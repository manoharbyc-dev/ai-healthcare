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tutorial on 30-day hospital readmission prediction using MIMIC-III data.</a:t>
            </a:r>
          </a:p>
          <a:p/>
          <a:p>
            <a:r>
              <a:t>GitHub repository: https://github.com/manoharbyc-dev/ai-healthcare</a:t>
            </a:r>
          </a:p>
          <a:p/>
          <a:p>
            <a:r>
              <a:t>Google Colab notebook: [PASTE YOUR COLAB LINK HERE after uploading to Drive]</a:t>
            </a:r>
          </a:p>
          <a:p/>
          <a:p>
            <a:r>
              <a:t>To reproduce: open the Colab link, run all cells in order. The notebook fetches data from BigQuery, trains three ML models, and generates all figures shown in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teaching point: readmission prediction is a class-imbalance problem. Explain WHY AUC-ROC is preferred over raw accuracy here — accuracy is misleading when 80% of cases are negative. Walk through the HRRP financial incentive to motivate why hospitals care.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self-join technique — this is a common EHR data pattern. Students often wonder why there is no "readmitted" column. Walk through the SQL logic step-by-step. Point out the LEFT JOIN — patients with NO future admissions get readmitted_30d=0. The CASE WHEN handles the threshold comparison. The BigQuery cost is very low (&lt;$0.10) because we are joining two small tables, not scanning the large chartevents 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panel: left shows class imbalance (~18-20% positive), center shows age distributions (note the right tail before clipping), right shows Medicare dominance. The age encoding quirk in MIMIC-III (300-year-olds) is a great teaching moment about real-world EHR data quality issues.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teaching point: feature choice determines model ceiling. Demographics alone achieve ~0.65-0.68 AUC. The literature achieves 0.75-0.80 by adding ICD-9 Elixhauser comorbidities, lab values, and length of stay. Mention this as a natural next step. Also note drop_first=False — explain why keeping all dummies is better for SHAP interpretability even though it adds mild collinearity.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hyperparameter and WHY it is set. Key point: scale_pos_weight = neg_count / pos_count is the XGBoost equivalent of class_weight="balanced". For ~80/20 split, this is ~4. Explain that learning_rate=0.05 with n_estimators=300 is the standard "slow and careful" approach for XGBoost. Point out stratify=y in the split — essential for imbalanced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ROC curve plot: each point on the curve is a threshold. Moving left = more conservative (fewer alerts, miss more readmissions). Moving right = more aggressive (more alerts, catch more readmissions). AUC is the area under this curve — a threshold-independent summary. Discuss the confusion matrix: in a 12-bed unit with 20% readmission rate, what does each cell cost? FN costs (missed intervention) vs FP costs (unnecessary follow-up calls). This motivates clinical threshold selection.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is a key differentiator from traditional feature importance. Traditional RF importance tells you which features the model used overall. SHAP tells you for THIS patient, how much each feature contributed. Mention that SHAP values can be negative (protective factors) or positive (risk factors). The beeswarm plot shows the distribution across all patients. Walk through one or two specific features (age, Medicare) to make it concrete.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three models side by side. Key tradeoff: interpretability vs. performance. In regulated clinical environments, logistic regression may be preferred even if AUC is lower, because coefficients are auditable. XGBoost is the engineering choice; SHAP bridges it to clinical explainability. Ask students: if you were presenting this to a hospital IRB, which model would you choose?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limitation #2 (all-cause vs. unplanned). This is a common mistake in academic readmission papers. A planned readmission (scheduled chemotherapy on day 14) should NOT count against a hospital. CMS uses a complex algorithm to distinguish planned vs. unplanned. Also mention MIMIC-IV as the upgrade path — it extends to 2019 and uses ICD-10, which is more granular than ICD-9.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steps 1–5 live if possible. Common issues:</a:t>
            </a:r>
          </a:p>
          <a:p>
            <a:r>
              <a:t>- BigQuery access denied: user has not completed PhysioNet credentialing</a:t>
            </a:r>
          </a:p>
          <a:p>
            <a:r>
              <a:t>- google.colab import error: running locally (not in Colab)</a:t>
            </a:r>
          </a:p>
          <a:p>
            <a:r>
              <a:t>- XGBoost version warning: safe to ignore if verbosity=0</a:t>
            </a:r>
          </a:p>
          <a:p>
            <a:r>
              <a:t>- SHAP very slow: X_test is large; use shap_values = explainer.shap_values(X_test.sample(1000)) for a quick demo</a:t>
            </a:r>
          </a:p>
          <a:p/>
          <a:p>
            <a:r>
              <a:t>GitHub: https://github.com/manoharbyc-dev/ai-healthcare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38B"/>
        </a:solidFill>
        <a:effectLst/>
      </p:bgPr>
    </p:bg>
    <p:spTree>
      <p:nvGrpSpPr>
        <p:cNvPr id="1" name=""/>
        <p:cNvGrpSpPr/>
        <p:nvPr/>
      </p:nvGrpSpPr>
      <p:grpSpPr/>
      <p:sp>
        <p:nvSpPr>
          <p:cNvPr id="2" name="Rectangle 1"/>
          <p:cNvSpPr/>
          <p:nvPr/>
        </p:nvSpPr>
        <p:spPr>
          <a:xfrm>
            <a:off x="0" y="2788920"/>
            <a:ext cx="12188952"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411480"/>
          </a:xfrm>
          <a:prstGeom prst="rect">
            <a:avLst/>
          </a:prstGeom>
          <a:noFill/>
        </p:spPr>
        <p:txBody>
          <a:bodyPr wrap="square">
            <a:spAutoFit/>
          </a:bodyPr>
          <a:lstStyle/>
          <a:p>
            <a:pPr algn="l"/>
            <a:r>
              <a:rPr sz="1300" b="0" i="1">
                <a:solidFill>
                  <a:srgbClr val="AACCEE"/>
                </a:solidFill>
              </a:rPr>
              <a:t>AII W380H  ·  AI in Healthcare  ·  UT Austin MSAI  ·  Summer 2026</a:t>
            </a:r>
          </a:p>
        </p:txBody>
      </p:sp>
      <p:sp>
        <p:nvSpPr>
          <p:cNvPr id="4" name="TextBox 3"/>
          <p:cNvSpPr txBox="1"/>
          <p:nvPr/>
        </p:nvSpPr>
        <p:spPr>
          <a:xfrm>
            <a:off x="640080" y="1005840"/>
            <a:ext cx="10789920" cy="1554480"/>
          </a:xfrm>
          <a:prstGeom prst="rect">
            <a:avLst/>
          </a:prstGeom>
          <a:noFill/>
        </p:spPr>
        <p:txBody>
          <a:bodyPr wrap="square">
            <a:spAutoFit/>
          </a:bodyPr>
          <a:lstStyle/>
          <a:p>
            <a:pPr algn="l"/>
            <a:r>
              <a:rPr sz="3400" b="1" i="0">
                <a:solidFill>
                  <a:srgbClr val="FFFFFF"/>
                </a:solidFill>
              </a:rPr>
              <a:t>30-Day Hospital Readmission Prediction
A Machine Learning Tutorial using MIMIC-III</a:t>
            </a:r>
          </a:p>
        </p:txBody>
      </p:sp>
      <p:sp>
        <p:nvSpPr>
          <p:cNvPr id="5" name="TextBox 4"/>
          <p:cNvSpPr txBox="1"/>
          <p:nvPr/>
        </p:nvSpPr>
        <p:spPr>
          <a:xfrm>
            <a:off x="640080" y="2926080"/>
            <a:ext cx="10789920" cy="502920"/>
          </a:xfrm>
          <a:prstGeom prst="rect">
            <a:avLst/>
          </a:prstGeom>
          <a:noFill/>
        </p:spPr>
        <p:txBody>
          <a:bodyPr wrap="square">
            <a:spAutoFit/>
          </a:bodyPr>
          <a:lstStyle/>
          <a:p>
            <a:pPr algn="l"/>
            <a:r>
              <a:rPr sz="1500" b="0" i="0">
                <a:solidFill>
                  <a:srgbClr val="CCDDEE"/>
                </a:solidFill>
              </a:rPr>
              <a:t>Logistic Regression   ·   Random Forest   ·   XGBoost   |   SHAP Explainability</a:t>
            </a:r>
          </a:p>
        </p:txBody>
      </p:sp>
      <p:sp>
        <p:nvSpPr>
          <p:cNvPr id="6" name="TextBox 5"/>
          <p:cNvSpPr txBox="1"/>
          <p:nvPr/>
        </p:nvSpPr>
        <p:spPr>
          <a:xfrm>
            <a:off x="640080" y="3657600"/>
            <a:ext cx="6858000" cy="2926080"/>
          </a:xfrm>
          <a:prstGeom prst="rect">
            <a:avLst/>
          </a:prstGeom>
          <a:noFill/>
        </p:spPr>
        <p:txBody>
          <a:bodyPr wrap="square">
            <a:spAutoFit/>
          </a:bodyPr>
          <a:lstStyle/>
          <a:p>
            <a:pPr algn="l"/>
            <a:r>
              <a:rPr sz="1200" b="0" i="0">
                <a:solidFill>
                  <a:srgbClr val="CCDDEE"/>
                </a:solidFill>
              </a:rPr>
              <a:t>Dataset: MIMIC-III Clinical Database  ·  physionet-data on BigQuery
Cohort:  All adult admissions (age &gt;= 18, non-deceased)
Label:   Readmitted within 30 days of discharge
Slide Index
  Slide 1     Clinical Background &amp; Problem Setup
  Slide 2     Dataset &amp; BigQuery Approach
  Slide 3     Exploratory Data Analysis
  Slide 4     Feature Engineering
  Slide 5     ML Pipeline &amp; Class Imbalance
  Slide 6     Model Results — ROC Curves
  Slide 7     SHAP Explainability
  Slide 8     Model Comparison &amp; Key Metrics
  Slides 9–10  Limitations, Next Steps &amp; How to Run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Clinical Background &amp; Problem Setup</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HRRP  ·  30-Day Readmission</a:t>
            </a:r>
          </a:p>
        </p:txBody>
      </p:sp>
      <p:sp>
        <p:nvSpPr>
          <p:cNvPr id="6" name="TextBox 5"/>
          <p:cNvSpPr txBox="1"/>
          <p:nvPr/>
        </p:nvSpPr>
        <p:spPr>
          <a:xfrm>
            <a:off x="320040" y="914400"/>
            <a:ext cx="5715000" cy="5029200"/>
          </a:xfrm>
          <a:prstGeom prst="rect">
            <a:avLst/>
          </a:prstGeom>
          <a:noFill/>
        </p:spPr>
        <p:txBody>
          <a:bodyPr wrap="square">
            <a:spAutoFit/>
          </a:bodyPr>
          <a:lstStyle/>
          <a:p>
            <a:pPr algn="l"/>
            <a:r>
              <a:rPr sz="1200" b="1">
                <a:solidFill>
                  <a:srgbClr val="1A538B"/>
                </a:solidFill>
              </a:rPr>
              <a:t>What is 30-Day Readmission?</a:t>
            </a:r>
          </a:p>
          <a:p>
            <a:pPr algn="l">
              <a:spcBef>
                <a:spcPts val="300"/>
              </a:spcBef>
            </a:pPr>
            <a:r>
              <a:rPr sz="1050">
                <a:solidFill>
                  <a:srgbClr val="444444"/>
                </a:solidFill>
              </a:rPr>
              <a:t>• An unplanned return to the hospital within 30 days of discharge</a:t>
            </a:r>
          </a:p>
          <a:p>
            <a:pPr algn="l">
              <a:spcBef>
                <a:spcPts val="300"/>
              </a:spcBef>
            </a:pPr>
            <a:r>
              <a:rPr sz="1050">
                <a:solidFill>
                  <a:srgbClr val="444444"/>
                </a:solidFill>
              </a:rPr>
              <a:t>• Tracked by the Centers for Medicare &amp; Medicaid Services (CMS)</a:t>
            </a:r>
          </a:p>
          <a:p>
            <a:pPr algn="l">
              <a:spcBef>
                <a:spcPts val="300"/>
              </a:spcBef>
            </a:pPr>
            <a:r>
              <a:rPr sz="1050">
                <a:solidFill>
                  <a:srgbClr val="444444"/>
                </a:solidFill>
              </a:rPr>
              <a:t>• The CMS Hospital Readmissions Reduction Program (HRRP, 2012)</a:t>
            </a:r>
          </a:p>
          <a:p>
            <a:pPr algn="l">
              <a:spcBef>
                <a:spcPts val="300"/>
              </a:spcBef>
            </a:pPr>
            <a:r>
              <a:rPr sz="1050">
                <a:solidFill>
                  <a:srgbClr val="444444"/>
                </a:solidFill>
              </a:rPr>
              <a:t>  penalizes hospitals whose readmission rates exceed national averages</a:t>
            </a:r>
          </a:p>
          <a:p>
            <a:pPr algn="l">
              <a:spcBef>
                <a:spcPts val="300"/>
              </a:spcBef>
            </a:pPr>
            <a:r>
              <a:rPr sz="1050">
                <a:solidFill>
                  <a:srgbClr val="444444"/>
                </a:solidFill>
              </a:rPr>
              <a:t>  — hospitals can lose up to 3% of Medicare payments</a:t>
            </a:r>
          </a:p>
          <a:p>
            <a:pPr algn="l">
              <a:spcBef>
                <a:spcPts val="300"/>
              </a:spcBef>
            </a:pPr>
            <a:r>
              <a:rPr sz="1050">
                <a:solidFill>
                  <a:srgbClr val="444444"/>
                </a:solidFill>
              </a:rPr>
              <a:t/>
            </a:r>
          </a:p>
          <a:p>
            <a:pPr algn="l">
              <a:spcBef>
                <a:spcPts val="300"/>
              </a:spcBef>
            </a:pPr>
            <a:r>
              <a:rPr sz="1050">
                <a:solidFill>
                  <a:srgbClr val="444444"/>
                </a:solidFill>
              </a:rPr>
              <a:t>National statistics:</a:t>
            </a:r>
          </a:p>
          <a:p>
            <a:pPr algn="l">
              <a:spcBef>
                <a:spcPts val="300"/>
              </a:spcBef>
            </a:pPr>
            <a:r>
              <a:rPr sz="1050">
                <a:solidFill>
                  <a:srgbClr val="444444"/>
                </a:solidFill>
              </a:rPr>
              <a:t>  ~15–20%  of Medicare patients readmitted within 30 days</a:t>
            </a:r>
          </a:p>
          <a:p>
            <a:pPr algn="l">
              <a:spcBef>
                <a:spcPts val="300"/>
              </a:spcBef>
            </a:pPr>
            <a:r>
              <a:rPr sz="1050">
                <a:solidFill>
                  <a:srgbClr val="444444"/>
                </a:solidFill>
              </a:rPr>
              <a:t>  ~$26B    annual cost of potentially preventable readmissions</a:t>
            </a:r>
          </a:p>
          <a:p>
            <a:pPr algn="l">
              <a:spcBef>
                <a:spcPts val="300"/>
              </a:spcBef>
            </a:pPr>
            <a:r>
              <a:rPr sz="1050">
                <a:solidFill>
                  <a:srgbClr val="444444"/>
                </a:solidFill>
              </a:rPr>
              <a:t>  ~2.3M    readmissions per year among Medicare beneficiaries</a:t>
            </a:r>
          </a:p>
          <a:p>
            <a:pPr algn="l">
              <a:spcBef>
                <a:spcPts val="300"/>
              </a:spcBef>
            </a:pPr>
            <a:r>
              <a:rPr sz="1050">
                <a:solidFill>
                  <a:srgbClr val="444444"/>
                </a:solidFill>
              </a:rPr>
              <a:t/>
            </a:r>
          </a:p>
          <a:p>
            <a:pPr algn="l">
              <a:spcBef>
                <a:spcPts val="300"/>
              </a:spcBef>
            </a:pPr>
            <a:r>
              <a:rPr sz="1050">
                <a:solidFill>
                  <a:srgbClr val="444444"/>
                </a:solidFill>
              </a:rPr>
              <a:t>ML opportunity:</a:t>
            </a:r>
          </a:p>
          <a:p>
            <a:pPr algn="l">
              <a:spcBef>
                <a:spcPts val="300"/>
              </a:spcBef>
            </a:pPr>
            <a:r>
              <a:rPr sz="1050">
                <a:solidFill>
                  <a:srgbClr val="444444"/>
                </a:solidFill>
              </a:rPr>
              <a:t>  If we can flag high-risk patients before discharge,</a:t>
            </a:r>
          </a:p>
          <a:p>
            <a:pPr algn="l">
              <a:spcBef>
                <a:spcPts val="300"/>
              </a:spcBef>
            </a:pPr>
            <a:r>
              <a:rPr sz="1050">
                <a:solidFill>
                  <a:srgbClr val="444444"/>
                </a:solidFill>
              </a:rPr>
              <a:t>  care teams can intervene: follow-up calls, home health,</a:t>
            </a:r>
          </a:p>
          <a:p>
            <a:pPr algn="l">
              <a:spcBef>
                <a:spcPts val="300"/>
              </a:spcBef>
            </a:pPr>
            <a:r>
              <a:rPr sz="1050">
                <a:solidFill>
                  <a:srgbClr val="444444"/>
                </a:solidFill>
              </a:rPr>
              <a:t>  discharge planning, medication reconciliation.</a:t>
            </a:r>
          </a:p>
        </p:txBody>
      </p:sp>
      <p:sp>
        <p:nvSpPr>
          <p:cNvPr id="7" name="TextBox 6"/>
          <p:cNvSpPr txBox="1"/>
          <p:nvPr/>
        </p:nvSpPr>
        <p:spPr>
          <a:xfrm>
            <a:off x="6263640" y="914400"/>
            <a:ext cx="5715000" cy="5029200"/>
          </a:xfrm>
          <a:prstGeom prst="rect">
            <a:avLst/>
          </a:prstGeom>
          <a:noFill/>
        </p:spPr>
        <p:txBody>
          <a:bodyPr wrap="square">
            <a:spAutoFit/>
          </a:bodyPr>
          <a:lstStyle/>
          <a:p>
            <a:pPr algn="l"/>
            <a:r>
              <a:rPr sz="1200" b="1">
                <a:solidFill>
                  <a:srgbClr val="1A538B"/>
                </a:solidFill>
              </a:rPr>
              <a:t>Our ML Problem</a:t>
            </a:r>
          </a:p>
          <a:p>
            <a:pPr algn="l">
              <a:spcBef>
                <a:spcPts val="300"/>
              </a:spcBef>
            </a:pPr>
            <a:r>
              <a:rPr sz="1050">
                <a:solidFill>
                  <a:srgbClr val="444444"/>
                </a:solidFill>
              </a:rPr>
              <a:t>Type: Binary classification</a:t>
            </a:r>
          </a:p>
          <a:p>
            <a:pPr algn="l">
              <a:spcBef>
                <a:spcPts val="300"/>
              </a:spcBef>
            </a:pPr>
            <a:r>
              <a:rPr sz="1050">
                <a:solidFill>
                  <a:srgbClr val="444444"/>
                </a:solidFill>
              </a:rPr>
              <a:t>  Input:  patient demographics + admission info</a:t>
            </a:r>
          </a:p>
          <a:p>
            <a:pPr algn="l">
              <a:spcBef>
                <a:spcPts val="300"/>
              </a:spcBef>
            </a:pPr>
            <a:r>
              <a:rPr sz="1050">
                <a:solidFill>
                  <a:srgbClr val="444444"/>
                </a:solidFill>
              </a:rPr>
              <a:t>  Output: probability of 30-day readmission  (0 to 1)</a:t>
            </a:r>
          </a:p>
          <a:p>
            <a:pPr algn="l">
              <a:spcBef>
                <a:spcPts val="300"/>
              </a:spcBef>
            </a:pPr>
            <a:r>
              <a:rPr sz="1050">
                <a:solidFill>
                  <a:srgbClr val="444444"/>
                </a:solidFill>
              </a:rPr>
              <a:t>  Label:  1 = readmitted within 30d  |  0 = not readmitted</a:t>
            </a:r>
          </a:p>
          <a:p>
            <a:pPr algn="l">
              <a:spcBef>
                <a:spcPts val="300"/>
              </a:spcBef>
            </a:pPr>
            <a:r>
              <a:rPr sz="1050">
                <a:solidFill>
                  <a:srgbClr val="444444"/>
                </a:solidFill>
              </a:rPr>
              <a:t/>
            </a:r>
          </a:p>
          <a:p>
            <a:pPr algn="l">
              <a:spcBef>
                <a:spcPts val="300"/>
              </a:spcBef>
            </a:pPr>
            <a:r>
              <a:rPr sz="1050">
                <a:solidFill>
                  <a:srgbClr val="444444"/>
                </a:solidFill>
              </a:rPr>
              <a:t>Class imbalance:</a:t>
            </a:r>
          </a:p>
          <a:p>
            <a:pPr algn="l">
              <a:spcBef>
                <a:spcPts val="300"/>
              </a:spcBef>
            </a:pPr>
            <a:r>
              <a:rPr sz="1050">
                <a:solidFill>
                  <a:srgbClr val="444444"/>
                </a:solidFill>
              </a:rPr>
              <a:t>  Readmission is the MINORITY class (~20%)</a:t>
            </a:r>
          </a:p>
          <a:p>
            <a:pPr algn="l">
              <a:spcBef>
                <a:spcPts val="300"/>
              </a:spcBef>
            </a:pPr>
            <a:r>
              <a:rPr sz="1050">
                <a:solidFill>
                  <a:srgbClr val="444444"/>
                </a:solidFill>
              </a:rPr>
              <a:t>  Models trained naively will predict "not readmitted" always</a:t>
            </a:r>
          </a:p>
          <a:p>
            <a:pPr algn="l">
              <a:spcBef>
                <a:spcPts val="300"/>
              </a:spcBef>
            </a:pPr>
            <a:r>
              <a:rPr sz="1050">
                <a:solidFill>
                  <a:srgbClr val="444444"/>
                </a:solidFill>
              </a:rPr>
              <a:t>  Solution: class_weight="balanced" (LR, RF)</a:t>
            </a:r>
          </a:p>
          <a:p>
            <a:pPr algn="l">
              <a:spcBef>
                <a:spcPts val="300"/>
              </a:spcBef>
            </a:pPr>
            <a:r>
              <a:rPr sz="1050">
                <a:solidFill>
                  <a:srgbClr val="444444"/>
                </a:solidFill>
              </a:rPr>
              <a:t>            scale_pos_weight = neg/pos (XGBoost)</a:t>
            </a:r>
          </a:p>
          <a:p>
            <a:pPr algn="l">
              <a:spcBef>
                <a:spcPts val="300"/>
              </a:spcBef>
            </a:pPr>
            <a:r>
              <a:rPr sz="1050">
                <a:solidFill>
                  <a:srgbClr val="444444"/>
                </a:solidFill>
              </a:rPr>
              <a:t/>
            </a:r>
          </a:p>
          <a:p>
            <a:pPr algn="l">
              <a:spcBef>
                <a:spcPts val="300"/>
              </a:spcBef>
            </a:pPr>
            <a:r>
              <a:rPr sz="1050">
                <a:solidFill>
                  <a:srgbClr val="444444"/>
                </a:solidFill>
              </a:rPr>
              <a:t>Evaluation metric: AUC-ROC</a:t>
            </a:r>
          </a:p>
          <a:p>
            <a:pPr algn="l">
              <a:spcBef>
                <a:spcPts val="300"/>
              </a:spcBef>
            </a:pPr>
            <a:r>
              <a:rPr sz="1050">
                <a:solidFill>
                  <a:srgbClr val="444444"/>
                </a:solidFill>
              </a:rPr>
              <a:t>  AUC = area under the ROC curve</a:t>
            </a:r>
          </a:p>
          <a:p>
            <a:pPr algn="l">
              <a:spcBef>
                <a:spcPts val="300"/>
              </a:spcBef>
            </a:pPr>
            <a:r>
              <a:rPr sz="1050">
                <a:solidFill>
                  <a:srgbClr val="444444"/>
                </a:solidFill>
              </a:rPr>
              <a:t>  Measures rank-ordering quality across all thresholds</a:t>
            </a:r>
          </a:p>
          <a:p>
            <a:pPr algn="l">
              <a:spcBef>
                <a:spcPts val="300"/>
              </a:spcBef>
            </a:pPr>
            <a:r>
              <a:rPr sz="1050">
                <a:solidFill>
                  <a:srgbClr val="444444"/>
                </a:solidFill>
              </a:rPr>
              <a:t>  0.5 = random  ·  1.0 = perfect  ·  &gt;0.7 = clinically useful</a:t>
            </a:r>
          </a:p>
          <a:p>
            <a:pPr algn="l">
              <a:spcBef>
                <a:spcPts val="300"/>
              </a:spcBef>
            </a:pPr>
            <a:r>
              <a:rPr sz="1050">
                <a:solidFill>
                  <a:srgbClr val="444444"/>
                </a:solidFill>
              </a:rPr>
              <a:t/>
            </a:r>
          </a:p>
          <a:p>
            <a:pPr algn="l">
              <a:spcBef>
                <a:spcPts val="300"/>
              </a:spcBef>
            </a:pPr>
            <a:r>
              <a:rPr sz="1050">
                <a:solidFill>
                  <a:srgbClr val="444444"/>
                </a:solidFill>
              </a:rPr>
              <a:t>Note: this tutorial uses a simplified "all-cause" readmission</a:t>
            </a:r>
          </a:p>
          <a:p>
            <a:pPr algn="l">
              <a:spcBef>
                <a:spcPts val="300"/>
              </a:spcBef>
            </a:pPr>
            <a:r>
              <a:rPr sz="1050">
                <a:solidFill>
                  <a:srgbClr val="444444"/>
                </a:solidFill>
              </a:rPr>
              <a:t>  definition. Production systems filter to unplanned admissions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Dataset &amp; BigQuery Approach</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MIMIC-III  ·  physionet-data</a:t>
            </a:r>
          </a:p>
        </p:txBody>
      </p:sp>
      <p:sp>
        <p:nvSpPr>
          <p:cNvPr id="6" name="TextBox 5"/>
          <p:cNvSpPr txBox="1"/>
          <p:nvPr/>
        </p:nvSpPr>
        <p:spPr>
          <a:xfrm>
            <a:off x="320040" y="914400"/>
            <a:ext cx="5715000" cy="5760720"/>
          </a:xfrm>
          <a:prstGeom prst="rect">
            <a:avLst/>
          </a:prstGeom>
          <a:noFill/>
        </p:spPr>
        <p:txBody>
          <a:bodyPr wrap="square">
            <a:spAutoFit/>
          </a:bodyPr>
          <a:lstStyle/>
          <a:p>
            <a:pPr algn="l"/>
            <a:r>
              <a:rPr sz="1200" b="1">
                <a:solidFill>
                  <a:srgbClr val="1A538B"/>
                </a:solidFill>
              </a:rPr>
              <a:t>MIMIC-III Clinical Database</a:t>
            </a:r>
          </a:p>
          <a:p>
            <a:pPr algn="l">
              <a:spcBef>
                <a:spcPts val="300"/>
              </a:spcBef>
            </a:pPr>
            <a:r>
              <a:rPr sz="1050">
                <a:solidFill>
                  <a:srgbClr val="444444"/>
                </a:solidFill>
              </a:rPr>
              <a:t>Source: MIT Lab for Computational Physiology</a:t>
            </a:r>
          </a:p>
          <a:p>
            <a:pPr algn="l">
              <a:spcBef>
                <a:spcPts val="300"/>
              </a:spcBef>
            </a:pPr>
            <a:r>
              <a:rPr sz="1050">
                <a:solidFill>
                  <a:srgbClr val="444444"/>
                </a:solidFill>
              </a:rPr>
              <a:t>Patients: ~46,000 ICU patients  |  ~58,000 admissions</a:t>
            </a:r>
          </a:p>
          <a:p>
            <a:pPr algn="l">
              <a:spcBef>
                <a:spcPts val="300"/>
              </a:spcBef>
            </a:pPr>
            <a:r>
              <a:rPr sz="1050">
                <a:solidFill>
                  <a:srgbClr val="444444"/>
                </a:solidFill>
              </a:rPr>
              <a:t>Period: 2001–2012  (Beth Israel Deaconess Medical Center)</a:t>
            </a:r>
          </a:p>
          <a:p>
            <a:pPr algn="l">
              <a:spcBef>
                <a:spcPts val="300"/>
              </a:spcBef>
            </a:pPr>
            <a:r>
              <a:rPr sz="1050">
                <a:solidFill>
                  <a:srgbClr val="444444"/>
                </a:solidFill>
              </a:rPr>
              <a:t>Access: PhysioNet credentialed user account + BigQuery</a:t>
            </a:r>
          </a:p>
          <a:p>
            <a:pPr algn="l">
              <a:spcBef>
                <a:spcPts val="300"/>
              </a:spcBef>
            </a:pPr>
            <a:r>
              <a:rPr sz="1050">
                <a:solidFill>
                  <a:srgbClr val="444444"/>
                </a:solidFill>
              </a:rPr>
              <a:t/>
            </a:r>
          </a:p>
          <a:p>
            <a:pPr algn="l">
              <a:spcBef>
                <a:spcPts val="300"/>
              </a:spcBef>
            </a:pPr>
            <a:r>
              <a:rPr sz="1050">
                <a:solidFill>
                  <a:srgbClr val="444444"/>
                </a:solidFill>
              </a:rPr>
              <a:t>Tables used in this tutorial:</a:t>
            </a:r>
          </a:p>
          <a:p>
            <a:pPr algn="l">
              <a:spcBef>
                <a:spcPts val="300"/>
              </a:spcBef>
            </a:pPr>
            <a:r>
              <a:rPr sz="1050">
                <a:solidFill>
                  <a:srgbClr val="444444"/>
                </a:solidFill>
              </a:rPr>
              <a:t/>
            </a:r>
          </a:p>
          <a:p>
            <a:pPr algn="l">
              <a:spcBef>
                <a:spcPts val="300"/>
              </a:spcBef>
            </a:pPr>
            <a:r>
              <a:rPr sz="1050">
                <a:solidFill>
                  <a:srgbClr val="444444"/>
                </a:solidFill>
              </a:rPr>
              <a:t>  mimiciii_clinical.ADMISSIONS</a:t>
            </a:r>
          </a:p>
          <a:p>
            <a:pPr algn="l">
              <a:spcBef>
                <a:spcPts val="300"/>
              </a:spcBef>
            </a:pPr>
            <a:r>
              <a:rPr sz="1050">
                <a:solidFill>
                  <a:srgbClr val="444444"/>
                </a:solidFill>
              </a:rPr>
              <a:t>    hadm_id, subject_id, admittime, dischtime,</a:t>
            </a:r>
          </a:p>
          <a:p>
            <a:pPr algn="l">
              <a:spcBef>
                <a:spcPts val="300"/>
              </a:spcBef>
            </a:pPr>
            <a:r>
              <a:rPr sz="1050">
                <a:solidFill>
                  <a:srgbClr val="444444"/>
                </a:solidFill>
              </a:rPr>
              <a:t>    admission_type, insurance, ethnicity,</a:t>
            </a:r>
          </a:p>
          <a:p>
            <a:pPr algn="l">
              <a:spcBef>
                <a:spcPts val="300"/>
              </a:spcBef>
            </a:pPr>
            <a:r>
              <a:rPr sz="1050">
                <a:solidFill>
                  <a:srgbClr val="444444"/>
                </a:solidFill>
              </a:rPr>
              <a:t>    marital_status, hospital_expire_flag</a:t>
            </a:r>
          </a:p>
          <a:p>
            <a:pPr algn="l">
              <a:spcBef>
                <a:spcPts val="300"/>
              </a:spcBef>
            </a:pPr>
            <a:r>
              <a:rPr sz="1050">
                <a:solidFill>
                  <a:srgbClr val="444444"/>
                </a:solidFill>
              </a:rPr>
              <a:t/>
            </a:r>
          </a:p>
          <a:p>
            <a:pPr algn="l">
              <a:spcBef>
                <a:spcPts val="300"/>
              </a:spcBef>
            </a:pPr>
            <a:r>
              <a:rPr sz="1050">
                <a:solidFill>
                  <a:srgbClr val="444444"/>
                </a:solidFill>
              </a:rPr>
              <a:t>  mimiciii_clinical.PATIENTS</a:t>
            </a:r>
          </a:p>
          <a:p>
            <a:pPr algn="l">
              <a:spcBef>
                <a:spcPts val="300"/>
              </a:spcBef>
            </a:pPr>
            <a:r>
              <a:rPr sz="1050">
                <a:solidFill>
                  <a:srgbClr val="444444"/>
                </a:solidFill>
              </a:rPr>
              <a:t>    subject_id, gender, dob</a:t>
            </a:r>
          </a:p>
          <a:p>
            <a:pPr algn="l">
              <a:spcBef>
                <a:spcPts val="300"/>
              </a:spcBef>
            </a:pPr>
            <a:r>
              <a:rPr sz="1050">
                <a:solidFill>
                  <a:srgbClr val="444444"/>
                </a:solidFill>
              </a:rPr>
              <a:t>    (dob used to compute age at admission)</a:t>
            </a:r>
          </a:p>
        </p:txBody>
      </p:sp>
      <p:sp>
        <p:nvSpPr>
          <p:cNvPr id="7" name="TextBox 6"/>
          <p:cNvSpPr txBox="1"/>
          <p:nvPr/>
        </p:nvSpPr>
        <p:spPr>
          <a:xfrm>
            <a:off x="6263640" y="914400"/>
            <a:ext cx="5715000" cy="5760720"/>
          </a:xfrm>
          <a:prstGeom prst="rect">
            <a:avLst/>
          </a:prstGeom>
          <a:noFill/>
        </p:spPr>
        <p:txBody>
          <a:bodyPr wrap="square">
            <a:spAutoFit/>
          </a:bodyPr>
          <a:lstStyle/>
          <a:p>
            <a:pPr algn="l"/>
            <a:r>
              <a:rPr sz="1200" b="1">
                <a:solidFill>
                  <a:srgbClr val="1A538B"/>
                </a:solidFill>
              </a:rPr>
              <a:t>Label Construction (SQL Self-Join)</a:t>
            </a:r>
          </a:p>
          <a:p>
            <a:pPr algn="l">
              <a:spcBef>
                <a:spcPts val="300"/>
              </a:spcBef>
            </a:pPr>
            <a:r>
              <a:rPr sz="1050">
                <a:solidFill>
                  <a:srgbClr val="444444"/>
                </a:solidFill>
              </a:rPr>
              <a:t>Challenge: MIMIC-III does not have a "readmitted" column.</a:t>
            </a:r>
          </a:p>
          <a:p>
            <a:pPr algn="l">
              <a:spcBef>
                <a:spcPts val="300"/>
              </a:spcBef>
            </a:pPr>
            <a:r>
              <a:rPr sz="1050">
                <a:solidFill>
                  <a:srgbClr val="444444"/>
                </a:solidFill>
              </a:rPr>
              <a:t>We compute it with a self-join on ADMISSIONS:</a:t>
            </a:r>
          </a:p>
          <a:p>
            <a:pPr algn="l">
              <a:spcBef>
                <a:spcPts val="300"/>
              </a:spcBef>
            </a:pPr>
            <a:r>
              <a:rPr sz="1050">
                <a:solidFill>
                  <a:srgbClr val="444444"/>
                </a:solidFill>
              </a:rPr>
              <a:t/>
            </a:r>
          </a:p>
          <a:p>
            <a:pPr algn="l">
              <a:spcBef>
                <a:spcPts val="300"/>
              </a:spcBef>
            </a:pPr>
            <a:r>
              <a:rPr sz="1050">
                <a:solidFill>
                  <a:srgbClr val="444444"/>
                </a:solidFill>
              </a:rPr>
              <a:t>  Step 1: For each admission a1, LEFT JOIN a2</a:t>
            </a:r>
          </a:p>
          <a:p>
            <a:pPr algn="l">
              <a:spcBef>
                <a:spcPts val="300"/>
              </a:spcBef>
            </a:pPr>
            <a:r>
              <a:rPr sz="1050">
                <a:solidFill>
                  <a:srgbClr val="444444"/>
                </a:solidFill>
              </a:rPr>
              <a:t>          WHERE a2.subject_id = a1.subject_id</a:t>
            </a:r>
          </a:p>
          <a:p>
            <a:pPr algn="l">
              <a:spcBef>
                <a:spcPts val="300"/>
              </a:spcBef>
            </a:pPr>
            <a:r>
              <a:rPr sz="1050">
                <a:solidFill>
                  <a:srgbClr val="444444"/>
                </a:solidFill>
              </a:rPr>
              <a:t>          AND   a2.admittime &gt; a1.dischtime</a:t>
            </a:r>
          </a:p>
          <a:p>
            <a:pPr algn="l">
              <a:spcBef>
                <a:spcPts val="300"/>
              </a:spcBef>
            </a:pPr>
            <a:r>
              <a:rPr sz="1050">
                <a:solidFill>
                  <a:srgbClr val="444444"/>
                </a:solidFill>
              </a:rPr>
              <a:t>          (finds all future admissions for same patient)</a:t>
            </a:r>
          </a:p>
          <a:p>
            <a:pPr algn="l">
              <a:spcBef>
                <a:spcPts val="300"/>
              </a:spcBef>
            </a:pPr>
            <a:r>
              <a:rPr sz="1050">
                <a:solidFill>
                  <a:srgbClr val="444444"/>
                </a:solidFill>
              </a:rPr>
              <a:t/>
            </a:r>
          </a:p>
          <a:p>
            <a:pPr algn="l">
              <a:spcBef>
                <a:spcPts val="300"/>
              </a:spcBef>
            </a:pPr>
            <a:r>
              <a:rPr sz="1050">
                <a:solidFill>
                  <a:srgbClr val="444444"/>
                </a:solidFill>
              </a:rPr>
              <a:t>  Step 2: MIN(a2.admittime) = earliest next admission</a:t>
            </a:r>
          </a:p>
          <a:p>
            <a:pPr algn="l">
              <a:spcBef>
                <a:spcPts val="300"/>
              </a:spcBef>
            </a:pPr>
            <a:r>
              <a:rPr sz="1050">
                <a:solidFill>
                  <a:srgbClr val="444444"/>
                </a:solidFill>
              </a:rPr>
              <a:t/>
            </a:r>
          </a:p>
          <a:p>
            <a:pPr algn="l">
              <a:spcBef>
                <a:spcPts val="300"/>
              </a:spcBef>
            </a:pPr>
            <a:r>
              <a:rPr sz="1050">
                <a:solidFill>
                  <a:srgbClr val="444444"/>
                </a:solidFill>
              </a:rPr>
              <a:t>  Step 3: CASE WHEN MIN(a2.admittime)</a:t>
            </a:r>
          </a:p>
          <a:p>
            <a:pPr algn="l">
              <a:spcBef>
                <a:spcPts val="300"/>
              </a:spcBef>
            </a:pPr>
            <a:r>
              <a:rPr sz="1050">
                <a:solidFill>
                  <a:srgbClr val="444444"/>
                </a:solidFill>
              </a:rPr>
              <a:t>               &lt;= a1.dischtime + 30 days</a:t>
            </a:r>
          </a:p>
          <a:p>
            <a:pPr algn="l">
              <a:spcBef>
                <a:spcPts val="300"/>
              </a:spcBef>
            </a:pPr>
            <a:r>
              <a:rPr sz="1050">
                <a:solidFill>
                  <a:srgbClr val="444444"/>
                </a:solidFill>
              </a:rPr>
              <a:t>          THEN 1 ELSE 0 END AS readmitted_30d</a:t>
            </a:r>
          </a:p>
          <a:p>
            <a:pPr algn="l">
              <a:spcBef>
                <a:spcPts val="300"/>
              </a:spcBef>
            </a:pPr>
            <a:r>
              <a:rPr sz="1050">
                <a:solidFill>
                  <a:srgbClr val="444444"/>
                </a:solidFill>
              </a:rPr>
              <a:t/>
            </a:r>
          </a:p>
          <a:p>
            <a:pPr algn="l">
              <a:spcBef>
                <a:spcPts val="300"/>
              </a:spcBef>
            </a:pPr>
            <a:r>
              <a:rPr sz="1050">
                <a:solidFill>
                  <a:srgbClr val="444444"/>
                </a:solidFill>
              </a:rPr>
              <a:t>  Step 4: Filter WHERE hospital_expire_flag = 0</a:t>
            </a:r>
          </a:p>
          <a:p>
            <a:pPr algn="l">
              <a:spcBef>
                <a:spcPts val="300"/>
              </a:spcBef>
            </a:pPr>
            <a:r>
              <a:rPr sz="1050">
                <a:solidFill>
                  <a:srgbClr val="444444"/>
                </a:solidFill>
              </a:rPr>
              <a:t>          (in-hospital deaths cannot be readmitted)</a:t>
            </a:r>
          </a:p>
          <a:p>
            <a:pPr algn="l">
              <a:spcBef>
                <a:spcPts val="300"/>
              </a:spcBef>
            </a:pPr>
            <a:r>
              <a:rPr sz="1050">
                <a:solidFill>
                  <a:srgbClr val="444444"/>
                </a:solidFill>
              </a:rPr>
              <a:t/>
            </a:r>
          </a:p>
          <a:p>
            <a:pPr algn="l">
              <a:spcBef>
                <a:spcPts val="300"/>
              </a:spcBef>
            </a:pPr>
            <a:r>
              <a:rPr sz="1050">
                <a:solidFill>
                  <a:srgbClr val="444444"/>
                </a:solidFill>
              </a:rPr>
              <a:t>  Step 5: Filter WHERE age &gt;= 18  (adult patients only)</a:t>
            </a:r>
          </a:p>
          <a:p>
            <a:pPr algn="l">
              <a:spcBef>
                <a:spcPts val="300"/>
              </a:spcBef>
            </a:pPr>
            <a:r>
              <a:rPr sz="1050">
                <a:solidFill>
                  <a:srgbClr val="444444"/>
                </a:solidFill>
              </a:rPr>
              <a:t/>
            </a:r>
          </a:p>
          <a:p>
            <a:pPr algn="l">
              <a:spcBef>
                <a:spcPts val="300"/>
              </a:spcBef>
            </a:pPr>
            <a:r>
              <a:rPr sz="1050">
                <a:solidFill>
                  <a:srgbClr val="444444"/>
                </a:solidFill>
              </a:rPr>
              <a:t>BigQuery billed: ~10–20 MB  (two small tables joined at query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Exploratory Data Analysis</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Cohort Overview  ·  Class Balance  ·  Demographics</a:t>
            </a:r>
          </a:p>
        </p:txBody>
      </p:sp>
      <p:sp>
        <p:nvSpPr>
          <p:cNvPr id="6" name="TextBox 5"/>
          <p:cNvSpPr txBox="1"/>
          <p:nvPr/>
        </p:nvSpPr>
        <p:spPr>
          <a:xfrm>
            <a:off x="7452360" y="868680"/>
            <a:ext cx="4526280" cy="2377440"/>
          </a:xfrm>
          <a:prstGeom prst="rect">
            <a:avLst/>
          </a:prstGeom>
          <a:noFill/>
        </p:spPr>
        <p:txBody>
          <a:bodyPr wrap="square">
            <a:spAutoFit/>
          </a:bodyPr>
          <a:lstStyle/>
          <a:p>
            <a:pPr algn="l"/>
            <a:r>
              <a:rPr sz="1100" b="1">
                <a:solidFill>
                  <a:srgbClr val="1A538B"/>
                </a:solidFill>
              </a:rPr>
              <a:t>Key EDA Findings</a:t>
            </a:r>
          </a:p>
          <a:p>
            <a:pPr algn="l">
              <a:spcBef>
                <a:spcPts val="300"/>
              </a:spcBef>
            </a:pPr>
            <a:r>
              <a:rPr sz="950">
                <a:solidFill>
                  <a:srgbClr val="444444"/>
                </a:solidFill>
              </a:rPr>
              <a:t>• ~58K adult admissions after filtering</a:t>
            </a:r>
          </a:p>
          <a:p>
            <a:pPr algn="l">
              <a:spcBef>
                <a:spcPts val="300"/>
              </a:spcBef>
            </a:pPr>
            <a:r>
              <a:rPr sz="950">
                <a:solidFill>
                  <a:srgbClr val="444444"/>
                </a:solidFill>
              </a:rPr>
              <a:t>• Readmission rate: ~18–20%  (class imbalance)</a:t>
            </a:r>
          </a:p>
          <a:p>
            <a:pPr algn="l">
              <a:spcBef>
                <a:spcPts val="300"/>
              </a:spcBef>
            </a:pPr>
            <a:r>
              <a:rPr sz="950">
                <a:solidFill>
                  <a:srgbClr val="444444"/>
                </a:solidFill>
              </a:rPr>
              <a:t>• Medicare dominates insurance (~45%)</a:t>
            </a:r>
          </a:p>
          <a:p>
            <a:pPr algn="l">
              <a:spcBef>
                <a:spcPts val="300"/>
              </a:spcBef>
            </a:pPr>
            <a:r>
              <a:rPr sz="950">
                <a:solidFill>
                  <a:srgbClr val="444444"/>
                </a:solidFill>
              </a:rPr>
              <a:t>  — reflects elderly ICU patient population</a:t>
            </a:r>
          </a:p>
          <a:p>
            <a:pPr algn="l">
              <a:spcBef>
                <a:spcPts val="300"/>
              </a:spcBef>
            </a:pPr>
            <a:r>
              <a:rPr sz="950">
                <a:solidFill>
                  <a:srgbClr val="444444"/>
                </a:solidFill>
              </a:rPr>
              <a:t>• Age distribution: bimodal ~40–50 and ~70–80</a:t>
            </a:r>
          </a:p>
          <a:p>
            <a:pPr algn="l">
              <a:spcBef>
                <a:spcPts val="300"/>
              </a:spcBef>
            </a:pPr>
            <a:r>
              <a:rPr sz="950">
                <a:solidFill>
                  <a:srgbClr val="444444"/>
                </a:solidFill>
              </a:rPr>
              <a:t>• Readmitted patients slightly older on average</a:t>
            </a:r>
          </a:p>
          <a:p>
            <a:pPr algn="l">
              <a:spcBef>
                <a:spcPts val="300"/>
              </a:spcBef>
            </a:pPr>
            <a:r>
              <a:rPr sz="950">
                <a:solidFill>
                  <a:srgbClr val="444444"/>
                </a:solidFill>
              </a:rPr>
              <a:t>  (older patients → more comorbidities → higher risk)</a:t>
            </a:r>
          </a:p>
        </p:txBody>
      </p:sp>
      <p:sp>
        <p:nvSpPr>
          <p:cNvPr id="7" name="Rectangle 6"/>
          <p:cNvSpPr/>
          <p:nvPr/>
        </p:nvSpPr>
        <p:spPr>
          <a:xfrm>
            <a:off x="7452360" y="3383280"/>
            <a:ext cx="4526280" cy="1874519"/>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25512" y="3456432"/>
            <a:ext cx="4389120" cy="274320"/>
          </a:xfrm>
          <a:prstGeom prst="rect">
            <a:avLst/>
          </a:prstGeom>
          <a:noFill/>
        </p:spPr>
        <p:txBody>
          <a:bodyPr wrap="square">
            <a:spAutoFit/>
          </a:bodyPr>
          <a:lstStyle/>
          <a:p>
            <a:pPr algn="l"/>
            <a:r>
              <a:rPr sz="1100" b="1" i="0">
                <a:solidFill>
                  <a:srgbClr val="1E8A44"/>
                </a:solidFill>
              </a:rPr>
              <a:t>Why EDA Matters</a:t>
            </a:r>
          </a:p>
        </p:txBody>
      </p:sp>
      <p:sp>
        <p:nvSpPr>
          <p:cNvPr id="9" name="TextBox 8"/>
          <p:cNvSpPr txBox="1"/>
          <p:nvPr/>
        </p:nvSpPr>
        <p:spPr>
          <a:xfrm>
            <a:off x="7525512" y="3767328"/>
            <a:ext cx="4389120" cy="1417319"/>
          </a:xfrm>
          <a:prstGeom prst="rect">
            <a:avLst/>
          </a:prstGeom>
          <a:noFill/>
        </p:spPr>
        <p:txBody>
          <a:bodyPr wrap="square">
            <a:spAutoFit/>
          </a:bodyPr>
          <a:lstStyle/>
          <a:p>
            <a:pPr algn="l"/>
            <a:r>
              <a:rPr sz="950" b="0" i="0">
                <a:solidFill>
                  <a:srgbClr val="225522"/>
                </a:solidFill>
              </a:rPr>
              <a:t>Class imbalance (80/20) means a naive model that always predicts "not readmitted" would achieve 80% accuracy — but zero clinical value. EDA reveals this before we train, motivating class-weight adjustments.
Age distribution confirms MIMIC-III is an elderly, acutely ill cohort — demographics will have genuine predictive signal.</a:t>
            </a:r>
          </a:p>
        </p:txBody>
      </p:sp>
      <p:sp>
        <p:nvSpPr>
          <p:cNvPr id="10" name="TextBox 9"/>
          <p:cNvSpPr txBox="1"/>
          <p:nvPr/>
        </p:nvSpPr>
        <p:spPr>
          <a:xfrm>
            <a:off x="7452360" y="5394960"/>
            <a:ext cx="4526280" cy="1371600"/>
          </a:xfrm>
          <a:prstGeom prst="rect">
            <a:avLst/>
          </a:prstGeom>
          <a:noFill/>
        </p:spPr>
        <p:txBody>
          <a:bodyPr wrap="square">
            <a:spAutoFit/>
          </a:bodyPr>
          <a:lstStyle/>
          <a:p>
            <a:pPr algn="l"/>
            <a:r>
              <a:rPr sz="1100" b="1">
                <a:solidFill>
                  <a:srgbClr val="1A538B"/>
                </a:solidFill>
              </a:rPr>
              <a:t>MIMIC-III Age Encoding</a:t>
            </a:r>
          </a:p>
          <a:p>
            <a:pPr algn="l">
              <a:spcBef>
                <a:spcPts val="300"/>
              </a:spcBef>
            </a:pPr>
            <a:r>
              <a:rPr sz="950">
                <a:solidFill>
                  <a:srgbClr val="444444"/>
                </a:solidFill>
              </a:rPr>
              <a:t>• Patients older than 89 are encoded as age ~300</a:t>
            </a:r>
          </a:p>
          <a:p>
            <a:pPr algn="l">
              <a:spcBef>
                <a:spcPts val="300"/>
              </a:spcBef>
            </a:pPr>
            <a:r>
              <a:rPr sz="950">
                <a:solidFill>
                  <a:srgbClr val="444444"/>
                </a:solidFill>
              </a:rPr>
              <a:t>  to protect de-identification (HIPAA Safe Harbor)</a:t>
            </a:r>
          </a:p>
          <a:p>
            <a:pPr algn="l">
              <a:spcBef>
                <a:spcPts val="300"/>
              </a:spcBef>
            </a:pPr>
            <a:r>
              <a:rPr sz="950">
                <a:solidFill>
                  <a:srgbClr val="444444"/>
                </a:solidFill>
              </a:rPr>
              <a:t>• We clip age to 91 in Python before modeling</a:t>
            </a:r>
          </a:p>
          <a:p>
            <a:pPr algn="l">
              <a:spcBef>
                <a:spcPts val="300"/>
              </a:spcBef>
            </a:pPr>
            <a:r>
              <a:rPr sz="950">
                <a:solidFill>
                  <a:srgbClr val="444444"/>
                </a:solidFill>
              </a:rPr>
              <a:t>  (these patients are genuinely older, not outliers)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Feature Engineering</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One-Hot Encoding  ·  Age Clipping</a:t>
            </a:r>
          </a:p>
        </p:txBody>
      </p:sp>
      <p:sp>
        <p:nvSpPr>
          <p:cNvPr id="6" name="TextBox 5"/>
          <p:cNvSpPr txBox="1"/>
          <p:nvPr/>
        </p:nvSpPr>
        <p:spPr>
          <a:xfrm>
            <a:off x="320040" y="914400"/>
            <a:ext cx="5715000" cy="5212080"/>
          </a:xfrm>
          <a:prstGeom prst="rect">
            <a:avLst/>
          </a:prstGeom>
          <a:noFill/>
        </p:spPr>
        <p:txBody>
          <a:bodyPr wrap="square">
            <a:spAutoFit/>
          </a:bodyPr>
          <a:lstStyle/>
          <a:p>
            <a:pPr algn="l"/>
            <a:r>
              <a:rPr sz="1200" b="1">
                <a:solidFill>
                  <a:srgbClr val="1A538B"/>
                </a:solidFill>
              </a:rPr>
              <a:t>Features Used</a:t>
            </a:r>
          </a:p>
          <a:p>
            <a:pPr algn="l">
              <a:spcBef>
                <a:spcPts val="300"/>
              </a:spcBef>
            </a:pPr>
            <a:r>
              <a:rPr sz="1050">
                <a:solidFill>
                  <a:srgbClr val="444444"/>
                </a:solidFill>
              </a:rPr>
              <a:t>Raw columns from BigQuery:</a:t>
            </a:r>
          </a:p>
          <a:p>
            <a:pPr algn="l">
              <a:spcBef>
                <a:spcPts val="300"/>
              </a:spcBef>
            </a:pPr>
            <a:r>
              <a:rPr sz="1050">
                <a:solidFill>
                  <a:srgbClr val="444444"/>
                </a:solidFill>
              </a:rPr>
              <a:t/>
            </a:r>
          </a:p>
          <a:p>
            <a:pPr algn="l">
              <a:spcBef>
                <a:spcPts val="300"/>
              </a:spcBef>
            </a:pPr>
            <a:r>
              <a:rPr sz="1050">
                <a:solidFill>
                  <a:srgbClr val="444444"/>
                </a:solidFill>
              </a:rPr>
              <a:t>  age             Numeric  — age at admission (years)</a:t>
            </a:r>
          </a:p>
          <a:p>
            <a:pPr algn="l">
              <a:spcBef>
                <a:spcPts val="300"/>
              </a:spcBef>
            </a:pPr>
            <a:r>
              <a:rPr sz="1050">
                <a:solidFill>
                  <a:srgbClr val="444444"/>
                </a:solidFill>
              </a:rPr>
              <a:t>                  MIMIC encodes &gt;89 as ~300; capped at 91</a:t>
            </a:r>
          </a:p>
          <a:p>
            <a:pPr algn="l">
              <a:spcBef>
                <a:spcPts val="300"/>
              </a:spcBef>
            </a:pPr>
            <a:r>
              <a:rPr sz="1050">
                <a:solidFill>
                  <a:srgbClr val="444444"/>
                </a:solidFill>
              </a:rPr>
              <a:t/>
            </a:r>
          </a:p>
          <a:p>
            <a:pPr algn="l">
              <a:spcBef>
                <a:spcPts val="300"/>
              </a:spcBef>
            </a:pPr>
            <a:r>
              <a:rPr sz="1050">
                <a:solidFill>
                  <a:srgbClr val="444444"/>
                </a:solidFill>
              </a:rPr>
              <a:t>  gender          Categorical — M / F</a:t>
            </a:r>
          </a:p>
          <a:p>
            <a:pPr algn="l">
              <a:spcBef>
                <a:spcPts val="300"/>
              </a:spcBef>
            </a:pPr>
            <a:r>
              <a:rPr sz="1050">
                <a:solidFill>
                  <a:srgbClr val="444444"/>
                </a:solidFill>
              </a:rPr>
              <a:t/>
            </a:r>
          </a:p>
          <a:p>
            <a:pPr algn="l">
              <a:spcBef>
                <a:spcPts val="300"/>
              </a:spcBef>
            </a:pPr>
            <a:r>
              <a:rPr sz="1050">
                <a:solidFill>
                  <a:srgbClr val="444444"/>
                </a:solidFill>
              </a:rPr>
              <a:t>  insurance       Categorical — Medicare / Medicaid /  </a:t>
            </a:r>
          </a:p>
          <a:p>
            <a:pPr algn="l">
              <a:spcBef>
                <a:spcPts val="300"/>
              </a:spcBef>
            </a:pPr>
            <a:r>
              <a:rPr sz="1050">
                <a:solidFill>
                  <a:srgbClr val="444444"/>
                </a:solidFill>
              </a:rPr>
              <a:t>                  Private / Government / Self Pay</a:t>
            </a:r>
          </a:p>
          <a:p>
            <a:pPr algn="l">
              <a:spcBef>
                <a:spcPts val="300"/>
              </a:spcBef>
            </a:pPr>
            <a:r>
              <a:rPr sz="1050">
                <a:solidFill>
                  <a:srgbClr val="444444"/>
                </a:solidFill>
              </a:rPr>
              <a:t/>
            </a:r>
          </a:p>
          <a:p>
            <a:pPr algn="l">
              <a:spcBef>
                <a:spcPts val="300"/>
              </a:spcBef>
            </a:pPr>
            <a:r>
              <a:rPr sz="1050">
                <a:solidFill>
                  <a:srgbClr val="444444"/>
                </a:solidFill>
              </a:rPr>
              <a:t>  ethnicity       Categorical — WHITE / BLACK / HISPANIC /  </a:t>
            </a:r>
          </a:p>
          <a:p>
            <a:pPr algn="l">
              <a:spcBef>
                <a:spcPts val="300"/>
              </a:spcBef>
            </a:pPr>
            <a:r>
              <a:rPr sz="1050">
                <a:solidFill>
                  <a:srgbClr val="444444"/>
                </a:solidFill>
              </a:rPr>
              <a:t>                  ASIAN / OTHER / UNKNOWN  (and sub-groups)</a:t>
            </a:r>
          </a:p>
          <a:p>
            <a:pPr algn="l">
              <a:spcBef>
                <a:spcPts val="300"/>
              </a:spcBef>
            </a:pPr>
            <a:r>
              <a:rPr sz="1050">
                <a:solidFill>
                  <a:srgbClr val="444444"/>
                </a:solidFill>
              </a:rPr>
              <a:t/>
            </a:r>
          </a:p>
          <a:p>
            <a:pPr algn="l">
              <a:spcBef>
                <a:spcPts val="300"/>
              </a:spcBef>
            </a:pPr>
            <a:r>
              <a:rPr sz="1050">
                <a:solidFill>
                  <a:srgbClr val="444444"/>
                </a:solidFill>
              </a:rPr>
              <a:t>  marital_status  Categorical — MARRIED / SINGLE / DIVORCED /  </a:t>
            </a:r>
          </a:p>
          <a:p>
            <a:pPr algn="l">
              <a:spcBef>
                <a:spcPts val="300"/>
              </a:spcBef>
            </a:pPr>
            <a:r>
              <a:rPr sz="1050">
                <a:solidFill>
                  <a:srgbClr val="444444"/>
                </a:solidFill>
              </a:rPr>
              <a:t>                  WIDOWED / UNKNOWN</a:t>
            </a:r>
          </a:p>
          <a:p>
            <a:pPr algn="l">
              <a:spcBef>
                <a:spcPts val="300"/>
              </a:spcBef>
            </a:pPr>
            <a:r>
              <a:rPr sz="1050">
                <a:solidFill>
                  <a:srgbClr val="444444"/>
                </a:solidFill>
              </a:rPr>
              <a:t/>
            </a:r>
          </a:p>
          <a:p>
            <a:pPr algn="l">
              <a:spcBef>
                <a:spcPts val="300"/>
              </a:spcBef>
            </a:pPr>
            <a:r>
              <a:rPr sz="1050">
                <a:solidFill>
                  <a:srgbClr val="444444"/>
                </a:solidFill>
              </a:rPr>
              <a:t>  admission_type  Categorical — EMERGENCY / ELECTIVE /  </a:t>
            </a:r>
          </a:p>
          <a:p>
            <a:pPr algn="l">
              <a:spcBef>
                <a:spcPts val="300"/>
              </a:spcBef>
            </a:pPr>
            <a:r>
              <a:rPr sz="1050">
                <a:solidFill>
                  <a:srgbClr val="444444"/>
                </a:solidFill>
              </a:rPr>
              <a:t>                  URGENT / NEWBORN</a:t>
            </a:r>
          </a:p>
        </p:txBody>
      </p:sp>
      <p:sp>
        <p:nvSpPr>
          <p:cNvPr id="7" name="TextBox 6"/>
          <p:cNvSpPr txBox="1"/>
          <p:nvPr/>
        </p:nvSpPr>
        <p:spPr>
          <a:xfrm>
            <a:off x="6263640" y="914400"/>
            <a:ext cx="5715000" cy="3520440"/>
          </a:xfrm>
          <a:prstGeom prst="rect">
            <a:avLst/>
          </a:prstGeom>
          <a:noFill/>
        </p:spPr>
        <p:txBody>
          <a:bodyPr wrap="square">
            <a:spAutoFit/>
          </a:bodyPr>
          <a:lstStyle/>
          <a:p>
            <a:pPr algn="l"/>
            <a:r>
              <a:rPr sz="1200" b="1">
                <a:solidFill>
                  <a:srgbClr val="1A538B"/>
                </a:solidFill>
              </a:rPr>
              <a:t>One-Hot Encoding</a:t>
            </a:r>
          </a:p>
          <a:p>
            <a:pPr algn="l">
              <a:spcBef>
                <a:spcPts val="300"/>
              </a:spcBef>
            </a:pPr>
            <a:r>
              <a:rPr sz="1050">
                <a:solidFill>
                  <a:srgbClr val="444444"/>
                </a:solidFill>
              </a:rPr>
              <a:t>• pd.get_dummies(cat_cols, drop_first=False)</a:t>
            </a:r>
          </a:p>
          <a:p>
            <a:pPr algn="l">
              <a:spcBef>
                <a:spcPts val="300"/>
              </a:spcBef>
            </a:pPr>
            <a:r>
              <a:rPr sz="1050">
                <a:solidFill>
                  <a:srgbClr val="444444"/>
                </a:solidFill>
              </a:rPr>
              <a:t>  — drop_first=False keeps ALL categories</a:t>
            </a:r>
          </a:p>
          <a:p>
            <a:pPr algn="l">
              <a:spcBef>
                <a:spcPts val="300"/>
              </a:spcBef>
            </a:pPr>
            <a:r>
              <a:rPr sz="1050">
                <a:solidFill>
                  <a:srgbClr val="444444"/>
                </a:solidFill>
              </a:rPr>
              <a:t>  — allows SHAP to assign importance to each group</a:t>
            </a:r>
          </a:p>
          <a:p>
            <a:pPr algn="l">
              <a:spcBef>
                <a:spcPts val="300"/>
              </a:spcBef>
            </a:pPr>
            <a:r>
              <a:rPr sz="1050">
                <a:solidFill>
                  <a:srgbClr val="444444"/>
                </a:solidFill>
              </a:rPr>
              <a:t>  — e.g., insurance_Medicare vs. insurance_Private</a:t>
            </a:r>
          </a:p>
          <a:p>
            <a:pPr algn="l">
              <a:spcBef>
                <a:spcPts val="300"/>
              </a:spcBef>
            </a:pPr>
            <a:r>
              <a:rPr sz="1050">
                <a:solidFill>
                  <a:srgbClr val="444444"/>
                </a:solidFill>
              </a:rPr>
              <a:t/>
            </a:r>
          </a:p>
          <a:p>
            <a:pPr algn="l">
              <a:spcBef>
                <a:spcPts val="300"/>
              </a:spcBef>
            </a:pPr>
            <a:r>
              <a:rPr sz="1050">
                <a:solidFill>
                  <a:srgbClr val="444444"/>
                </a:solidFill>
              </a:rPr>
              <a:t>• Missing values filled with "UNKNOWN" before encoding</a:t>
            </a:r>
          </a:p>
          <a:p>
            <a:pPr algn="l">
              <a:spcBef>
                <a:spcPts val="300"/>
              </a:spcBef>
            </a:pPr>
            <a:r>
              <a:rPr sz="1050">
                <a:solidFill>
                  <a:srgbClr val="444444"/>
                </a:solidFill>
              </a:rPr>
              <a:t>  — UNKNOWN becomes its own indicator column</a:t>
            </a:r>
          </a:p>
          <a:p>
            <a:pPr algn="l">
              <a:spcBef>
                <a:spcPts val="300"/>
              </a:spcBef>
            </a:pPr>
            <a:r>
              <a:rPr sz="1050">
                <a:solidFill>
                  <a:srgbClr val="444444"/>
                </a:solidFill>
              </a:rPr>
              <a:t/>
            </a:r>
          </a:p>
          <a:p>
            <a:pPr algn="l">
              <a:spcBef>
                <a:spcPts val="300"/>
              </a:spcBef>
            </a:pPr>
            <a:r>
              <a:rPr sz="1050">
                <a:solidFill>
                  <a:srgbClr val="444444"/>
                </a:solidFill>
              </a:rPr>
              <a:t>Resulting feature matrix:</a:t>
            </a:r>
          </a:p>
          <a:p>
            <a:pPr algn="l">
              <a:spcBef>
                <a:spcPts val="300"/>
              </a:spcBef>
            </a:pPr>
            <a:r>
              <a:rPr sz="1050">
                <a:solidFill>
                  <a:srgbClr val="444444"/>
                </a:solidFill>
              </a:rPr>
              <a:t>  Rows  : ~58K admissions</a:t>
            </a:r>
          </a:p>
          <a:p>
            <a:pPr algn="l">
              <a:spcBef>
                <a:spcPts val="300"/>
              </a:spcBef>
            </a:pPr>
            <a:r>
              <a:rPr sz="1050">
                <a:solidFill>
                  <a:srgbClr val="444444"/>
                </a:solidFill>
              </a:rPr>
              <a:t>  Cols  : ~35–40 features (depends on ethnicity granularity)</a:t>
            </a:r>
          </a:p>
          <a:p>
            <a:pPr algn="l">
              <a:spcBef>
                <a:spcPts val="300"/>
              </a:spcBef>
            </a:pPr>
            <a:r>
              <a:rPr sz="1050">
                <a:solidFill>
                  <a:srgbClr val="444444"/>
                </a:solidFill>
              </a:rPr>
              <a:t>  Types : all float (0.0 / 1.0 for dummies; float for age)</a:t>
            </a:r>
          </a:p>
        </p:txBody>
      </p:sp>
      <p:sp>
        <p:nvSpPr>
          <p:cNvPr id="8" name="Rectangle 7"/>
          <p:cNvSpPr/>
          <p:nvPr/>
        </p:nvSpPr>
        <p:spPr>
          <a:xfrm>
            <a:off x="6263640" y="4572000"/>
            <a:ext cx="5715000" cy="219456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4645152"/>
            <a:ext cx="5577840" cy="274320"/>
          </a:xfrm>
          <a:prstGeom prst="rect">
            <a:avLst/>
          </a:prstGeom>
          <a:noFill/>
        </p:spPr>
        <p:txBody>
          <a:bodyPr wrap="square">
            <a:spAutoFit/>
          </a:bodyPr>
          <a:lstStyle/>
          <a:p>
            <a:pPr algn="l"/>
            <a:r>
              <a:rPr sz="1100" b="1" i="0">
                <a:solidFill>
                  <a:srgbClr val="1E8A44"/>
                </a:solidFill>
              </a:rPr>
              <a:t>Why Demographic Features?</a:t>
            </a:r>
          </a:p>
        </p:txBody>
      </p:sp>
      <p:sp>
        <p:nvSpPr>
          <p:cNvPr id="10" name="TextBox 9"/>
          <p:cNvSpPr txBox="1"/>
          <p:nvPr/>
        </p:nvSpPr>
        <p:spPr>
          <a:xfrm>
            <a:off x="6336792" y="4956048"/>
            <a:ext cx="5577840" cy="1737360"/>
          </a:xfrm>
          <a:prstGeom prst="rect">
            <a:avLst/>
          </a:prstGeom>
          <a:noFill/>
        </p:spPr>
        <p:txBody>
          <a:bodyPr wrap="square">
            <a:spAutoFit/>
          </a:bodyPr>
          <a:lstStyle/>
          <a:p>
            <a:pPr algn="l"/>
            <a:r>
              <a:rPr sz="950" b="0" i="0">
                <a:solidFill>
                  <a:srgbClr val="225522"/>
                </a:solidFill>
              </a:rPr>
              <a:t>Demographics are available at admission time — before any clinical events occur — making them actionable for early intervention. Insurance type is a proxy for socioeconomic risk; admission type (emergency vs. elective) captures acuity. While AUC with demographics alone is modest (~0.65–0.68), the pipeline is fully extensible: add ICD-9 comorbidities or lab values for a substantial boost.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Machine Learning Pipeline</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LR  ·  RF  ·  XGBoost  ·  Class Imbalance Handling</a:t>
            </a:r>
          </a:p>
        </p:txBody>
      </p:sp>
      <p:sp>
        <p:nvSpPr>
          <p:cNvPr id="6" name="TextBox 5"/>
          <p:cNvSpPr txBox="1"/>
          <p:nvPr/>
        </p:nvSpPr>
        <p:spPr>
          <a:xfrm>
            <a:off x="320040" y="914400"/>
            <a:ext cx="5715000" cy="5212080"/>
          </a:xfrm>
          <a:prstGeom prst="rect">
            <a:avLst/>
          </a:prstGeom>
          <a:noFill/>
        </p:spPr>
        <p:txBody>
          <a:bodyPr wrap="square">
            <a:spAutoFit/>
          </a:bodyPr>
          <a:lstStyle/>
          <a:p>
            <a:pPr algn="l"/>
            <a:r>
              <a:rPr sz="1200" b="1">
                <a:solidFill>
                  <a:srgbClr val="1A538B"/>
                </a:solidFill>
              </a:rPr>
              <a:t>Pipeline Steps</a:t>
            </a:r>
          </a:p>
          <a:p>
            <a:pPr algn="l">
              <a:spcBef>
                <a:spcPts val="300"/>
              </a:spcBef>
            </a:pPr>
            <a:r>
              <a:rPr sz="1050">
                <a:solidFill>
                  <a:srgbClr val="444444"/>
                </a:solidFill>
              </a:rPr>
              <a:t>① Feature matrix  →  X  (float, ~58K × 38)</a:t>
            </a:r>
          </a:p>
          <a:p>
            <a:pPr algn="l">
              <a:spcBef>
                <a:spcPts val="300"/>
              </a:spcBef>
            </a:pPr>
            <a:r>
              <a:rPr sz="1050">
                <a:solidFill>
                  <a:srgbClr val="444444"/>
                </a:solidFill>
              </a:rPr>
              <a:t>   Target vector  →  y  (0 / 1)</a:t>
            </a:r>
          </a:p>
          <a:p>
            <a:pPr algn="l">
              <a:spcBef>
                <a:spcPts val="300"/>
              </a:spcBef>
            </a:pPr>
            <a:r>
              <a:rPr sz="1050">
                <a:solidFill>
                  <a:srgbClr val="444444"/>
                </a:solidFill>
              </a:rPr>
              <a:t/>
            </a:r>
          </a:p>
          <a:p>
            <a:pPr algn="l">
              <a:spcBef>
                <a:spcPts val="300"/>
              </a:spcBef>
            </a:pPr>
            <a:r>
              <a:rPr sz="1050">
                <a:solidFill>
                  <a:srgbClr val="444444"/>
                </a:solidFill>
              </a:rPr>
              <a:t>② Train / Test split</a:t>
            </a:r>
          </a:p>
          <a:p>
            <a:pPr algn="l">
              <a:spcBef>
                <a:spcPts val="300"/>
              </a:spcBef>
            </a:pPr>
            <a:r>
              <a:rPr sz="1050">
                <a:solidFill>
                  <a:srgbClr val="444444"/>
                </a:solidFill>
              </a:rPr>
              <a:t>   train_test_split(X, y, test_size=0.2,</a:t>
            </a:r>
          </a:p>
          <a:p>
            <a:pPr algn="l">
              <a:spcBef>
                <a:spcPts val="300"/>
              </a:spcBef>
            </a:pPr>
            <a:r>
              <a:rPr sz="1050">
                <a:solidFill>
                  <a:srgbClr val="444444"/>
                </a:solidFill>
              </a:rPr>
              <a:t>                    stratify=y, random_state=42)</a:t>
            </a:r>
          </a:p>
          <a:p>
            <a:pPr algn="l">
              <a:spcBef>
                <a:spcPts val="300"/>
              </a:spcBef>
            </a:pPr>
            <a:r>
              <a:rPr sz="1050">
                <a:solidFill>
                  <a:srgbClr val="444444"/>
                </a:solidFill>
              </a:rPr>
              <a:t>   Stratify ensures both splits preserve the 80/20 ratio</a:t>
            </a:r>
          </a:p>
          <a:p>
            <a:pPr algn="l">
              <a:spcBef>
                <a:spcPts val="300"/>
              </a:spcBef>
            </a:pPr>
            <a:r>
              <a:rPr sz="1050">
                <a:solidFill>
                  <a:srgbClr val="444444"/>
                </a:solidFill>
              </a:rPr>
              <a:t/>
            </a:r>
          </a:p>
          <a:p>
            <a:pPr algn="l">
              <a:spcBef>
                <a:spcPts val="300"/>
              </a:spcBef>
            </a:pPr>
            <a:r>
              <a:rPr sz="1050">
                <a:solidFill>
                  <a:srgbClr val="444444"/>
                </a:solidFill>
              </a:rPr>
              <a:t>③ Three classifiers trained on X_train / y_train</a:t>
            </a:r>
          </a:p>
          <a:p>
            <a:pPr algn="l">
              <a:spcBef>
                <a:spcPts val="300"/>
              </a:spcBef>
            </a:pPr>
            <a:r>
              <a:rPr sz="1050">
                <a:solidFill>
                  <a:srgbClr val="444444"/>
                </a:solidFill>
              </a:rPr>
              <a:t/>
            </a:r>
          </a:p>
          <a:p>
            <a:pPr algn="l">
              <a:spcBef>
                <a:spcPts val="300"/>
              </a:spcBef>
            </a:pPr>
            <a:r>
              <a:rPr sz="1050">
                <a:solidFill>
                  <a:srgbClr val="444444"/>
                </a:solidFill>
              </a:rPr>
              <a:t>④ Predict probabilities on X_test</a:t>
            </a:r>
          </a:p>
          <a:p>
            <a:pPr algn="l">
              <a:spcBef>
                <a:spcPts val="300"/>
              </a:spcBef>
            </a:pPr>
            <a:r>
              <a:rPr sz="1050">
                <a:solidFill>
                  <a:srgbClr val="444444"/>
                </a:solidFill>
              </a:rPr>
              <a:t>   model.predict_proba(X_test)[:, 1]</a:t>
            </a:r>
          </a:p>
          <a:p>
            <a:pPr algn="l">
              <a:spcBef>
                <a:spcPts val="300"/>
              </a:spcBef>
            </a:pPr>
            <a:r>
              <a:rPr sz="1050">
                <a:solidFill>
                  <a:srgbClr val="444444"/>
                </a:solidFill>
              </a:rPr>
              <a:t>   (column 1 = probability of being readmitted)</a:t>
            </a:r>
          </a:p>
          <a:p>
            <a:pPr algn="l">
              <a:spcBef>
                <a:spcPts val="300"/>
              </a:spcBef>
            </a:pPr>
            <a:r>
              <a:rPr sz="1050">
                <a:solidFill>
                  <a:srgbClr val="444444"/>
                </a:solidFill>
              </a:rPr>
              <a:t/>
            </a:r>
          </a:p>
          <a:p>
            <a:pPr algn="l">
              <a:spcBef>
                <a:spcPts val="300"/>
              </a:spcBef>
            </a:pPr>
            <a:r>
              <a:rPr sz="1050">
                <a:solidFill>
                  <a:srgbClr val="444444"/>
                </a:solidFill>
              </a:rPr>
              <a:t>⑤ Evaluate with roc_auc_score(y_test, proba)</a:t>
            </a:r>
          </a:p>
          <a:p>
            <a:pPr algn="l">
              <a:spcBef>
                <a:spcPts val="300"/>
              </a:spcBef>
            </a:pPr>
            <a:r>
              <a:rPr sz="1050">
                <a:solidFill>
                  <a:srgbClr val="444444"/>
                </a:solidFill>
              </a:rPr>
              <a:t>   — AUC is threshold-independent</a:t>
            </a:r>
          </a:p>
          <a:p>
            <a:pPr algn="l">
              <a:spcBef>
                <a:spcPts val="300"/>
              </a:spcBef>
            </a:pPr>
            <a:r>
              <a:rPr sz="1050">
                <a:solidFill>
                  <a:srgbClr val="444444"/>
                </a:solidFill>
              </a:rPr>
              <a:t/>
            </a:r>
          </a:p>
          <a:p>
            <a:pPr algn="l">
              <a:spcBef>
                <a:spcPts val="300"/>
              </a:spcBef>
            </a:pPr>
            <a:r>
              <a:rPr sz="1050">
                <a:solidFill>
                  <a:srgbClr val="444444"/>
                </a:solidFill>
              </a:rPr>
              <a:t>⑥ Best model → SHAP explainability</a:t>
            </a:r>
          </a:p>
        </p:txBody>
      </p:sp>
      <p:sp>
        <p:nvSpPr>
          <p:cNvPr id="7" name="TextBox 6"/>
          <p:cNvSpPr txBox="1"/>
          <p:nvPr/>
        </p:nvSpPr>
        <p:spPr>
          <a:xfrm>
            <a:off x="6263640" y="914400"/>
            <a:ext cx="5715000" cy="5212080"/>
          </a:xfrm>
          <a:prstGeom prst="rect">
            <a:avLst/>
          </a:prstGeom>
          <a:noFill/>
        </p:spPr>
        <p:txBody>
          <a:bodyPr wrap="square">
            <a:spAutoFit/>
          </a:bodyPr>
          <a:lstStyle/>
          <a:p>
            <a:pPr algn="l"/>
            <a:r>
              <a:rPr sz="1200" b="1">
                <a:solidFill>
                  <a:srgbClr val="1A538B"/>
                </a:solidFill>
              </a:rPr>
              <a:t>Model Hyperparameters</a:t>
            </a:r>
          </a:p>
          <a:p>
            <a:pPr algn="l">
              <a:spcBef>
                <a:spcPts val="300"/>
              </a:spcBef>
            </a:pPr>
            <a:r>
              <a:rPr sz="1050">
                <a:solidFill>
                  <a:srgbClr val="444444"/>
                </a:solidFill>
              </a:rPr>
              <a:t>Logistic Regression</a:t>
            </a:r>
          </a:p>
          <a:p>
            <a:pPr algn="l">
              <a:spcBef>
                <a:spcPts val="300"/>
              </a:spcBef>
            </a:pPr>
            <a:r>
              <a:rPr sz="1050">
                <a:solidFill>
                  <a:srgbClr val="444444"/>
                </a:solidFill>
              </a:rPr>
              <a:t>  max_iter=1000        allow convergence on ~38 features</a:t>
            </a:r>
          </a:p>
          <a:p>
            <a:pPr algn="l">
              <a:spcBef>
                <a:spcPts val="300"/>
              </a:spcBef>
            </a:pPr>
            <a:r>
              <a:rPr sz="1050">
                <a:solidFill>
                  <a:srgbClr val="444444"/>
                </a:solidFill>
              </a:rPr>
              <a:t>  class_weight="balanced"  upweight minority class</a:t>
            </a:r>
          </a:p>
          <a:p>
            <a:pPr algn="l">
              <a:spcBef>
                <a:spcPts val="300"/>
              </a:spcBef>
            </a:pPr>
            <a:r>
              <a:rPr sz="1050">
                <a:solidFill>
                  <a:srgbClr val="444444"/>
                </a:solidFill>
              </a:rPr>
              <a:t>  random_state=42</a:t>
            </a:r>
          </a:p>
          <a:p>
            <a:pPr algn="l">
              <a:spcBef>
                <a:spcPts val="300"/>
              </a:spcBef>
            </a:pPr>
            <a:r>
              <a:rPr sz="1050">
                <a:solidFill>
                  <a:srgbClr val="444444"/>
                </a:solidFill>
              </a:rPr>
              <a:t/>
            </a:r>
          </a:p>
          <a:p>
            <a:pPr algn="l">
              <a:spcBef>
                <a:spcPts val="300"/>
              </a:spcBef>
            </a:pPr>
            <a:r>
              <a:rPr sz="1050">
                <a:solidFill>
                  <a:srgbClr val="444444"/>
                </a:solidFill>
              </a:rPr>
              <a:t>Random Forest</a:t>
            </a:r>
          </a:p>
          <a:p>
            <a:pPr algn="l">
              <a:spcBef>
                <a:spcPts val="300"/>
              </a:spcBef>
            </a:pPr>
            <a:r>
              <a:rPr sz="1050">
                <a:solidFill>
                  <a:srgbClr val="444444"/>
                </a:solidFill>
              </a:rPr>
              <a:t>  n_estimators=200     200 decision trees</a:t>
            </a:r>
          </a:p>
          <a:p>
            <a:pPr algn="l">
              <a:spcBef>
                <a:spcPts val="300"/>
              </a:spcBef>
            </a:pPr>
            <a:r>
              <a:rPr sz="1050">
                <a:solidFill>
                  <a:srgbClr val="444444"/>
                </a:solidFill>
              </a:rPr>
              <a:t>  class_weight="balanced"  per-tree resampling</a:t>
            </a:r>
          </a:p>
          <a:p>
            <a:pPr algn="l">
              <a:spcBef>
                <a:spcPts val="300"/>
              </a:spcBef>
            </a:pPr>
            <a:r>
              <a:rPr sz="1050">
                <a:solidFill>
                  <a:srgbClr val="444444"/>
                </a:solidFill>
              </a:rPr>
              <a:t>  n_jobs=-1            use all CPU cores</a:t>
            </a:r>
          </a:p>
          <a:p>
            <a:pPr algn="l">
              <a:spcBef>
                <a:spcPts val="300"/>
              </a:spcBef>
            </a:pPr>
            <a:r>
              <a:rPr sz="1050">
                <a:solidFill>
                  <a:srgbClr val="444444"/>
                </a:solidFill>
              </a:rPr>
              <a:t>  random_state=42</a:t>
            </a:r>
          </a:p>
          <a:p>
            <a:pPr algn="l">
              <a:spcBef>
                <a:spcPts val="300"/>
              </a:spcBef>
            </a:pPr>
            <a:r>
              <a:rPr sz="1050">
                <a:solidFill>
                  <a:srgbClr val="444444"/>
                </a:solidFill>
              </a:rPr>
              <a:t/>
            </a:r>
          </a:p>
          <a:p>
            <a:pPr algn="l">
              <a:spcBef>
                <a:spcPts val="300"/>
              </a:spcBef>
            </a:pPr>
            <a:r>
              <a:rPr sz="1050">
                <a:solidFill>
                  <a:srgbClr val="444444"/>
                </a:solidFill>
              </a:rPr>
              <a:t>XGBoost</a:t>
            </a:r>
          </a:p>
          <a:p>
            <a:pPr algn="l">
              <a:spcBef>
                <a:spcPts val="300"/>
              </a:spcBef>
            </a:pPr>
            <a:r>
              <a:rPr sz="1050">
                <a:solidFill>
                  <a:srgbClr val="444444"/>
                </a:solidFill>
              </a:rPr>
              <a:t>  n_estimators=300     300 boosting rounds</a:t>
            </a:r>
          </a:p>
          <a:p>
            <a:pPr algn="l">
              <a:spcBef>
                <a:spcPts val="300"/>
              </a:spcBef>
            </a:pPr>
            <a:r>
              <a:rPr sz="1050">
                <a:solidFill>
                  <a:srgbClr val="444444"/>
                </a:solidFill>
              </a:rPr>
              <a:t>  max_depth=5          tree depth (controls complexity)</a:t>
            </a:r>
          </a:p>
          <a:p>
            <a:pPr algn="l">
              <a:spcBef>
                <a:spcPts val="300"/>
              </a:spcBef>
            </a:pPr>
            <a:r>
              <a:rPr sz="1050">
                <a:solidFill>
                  <a:srgbClr val="444444"/>
                </a:solidFill>
              </a:rPr>
              <a:t>  learning_rate=0.05   shrinkage (prevents overfitting)</a:t>
            </a:r>
          </a:p>
          <a:p>
            <a:pPr algn="l">
              <a:spcBef>
                <a:spcPts val="300"/>
              </a:spcBef>
            </a:pPr>
            <a:r>
              <a:rPr sz="1050">
                <a:solidFill>
                  <a:srgbClr val="444444"/>
                </a:solidFill>
              </a:rPr>
              <a:t>  scale_pos_weight=N/P  N=negatives, P=positives</a:t>
            </a:r>
          </a:p>
          <a:p>
            <a:pPr algn="l">
              <a:spcBef>
                <a:spcPts val="300"/>
              </a:spcBef>
            </a:pPr>
            <a:r>
              <a:rPr sz="1050">
                <a:solidFill>
                  <a:srgbClr val="444444"/>
                </a:solidFill>
              </a:rPr>
              <a:t>                        equivalent to class_weight</a:t>
            </a:r>
          </a:p>
          <a:p>
            <a:pPr algn="l">
              <a:spcBef>
                <a:spcPts val="300"/>
              </a:spcBef>
            </a:pPr>
            <a:r>
              <a:rPr sz="1050">
                <a:solidFill>
                  <a:srgbClr val="444444"/>
                </a:solidFill>
              </a:rPr>
              <a:t>  eval_metric="logloss"</a:t>
            </a:r>
          </a:p>
          <a:p>
            <a:pPr algn="l">
              <a:spcBef>
                <a:spcPts val="300"/>
              </a:spcBef>
            </a:pPr>
            <a:r>
              <a:rPr sz="1050">
                <a:solidFill>
                  <a:srgbClr val="444444"/>
                </a:solidFill>
              </a:rPr>
              <a:t>  verbosity=0          suppress training output</a:t>
            </a:r>
          </a:p>
          <a:p>
            <a:pPr algn="l">
              <a:spcBef>
                <a:spcPts val="300"/>
              </a:spcBef>
            </a:pPr>
            <a:r>
              <a:rPr sz="1050">
                <a:solidFill>
                  <a:srgbClr val="444444"/>
                </a:solidFill>
              </a:rPr>
              <a:t>  random_state=42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Model Evaluation — ROC Curves &amp; Confusion Matrix</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XGBoost best  ·  AUC ~0.68</a:t>
            </a:r>
          </a:p>
        </p:txBody>
      </p:sp>
      <p:sp>
        <p:nvSpPr>
          <p:cNvPr id="6" name="TextBox 5"/>
          <p:cNvSpPr txBox="1"/>
          <p:nvPr/>
        </p:nvSpPr>
        <p:spPr>
          <a:xfrm>
            <a:off x="7452360" y="868680"/>
            <a:ext cx="4526280" cy="2240280"/>
          </a:xfrm>
          <a:prstGeom prst="rect">
            <a:avLst/>
          </a:prstGeom>
          <a:noFill/>
        </p:spPr>
        <p:txBody>
          <a:bodyPr wrap="square">
            <a:spAutoFit/>
          </a:bodyPr>
          <a:lstStyle/>
          <a:p>
            <a:pPr algn="l"/>
            <a:r>
              <a:rPr sz="1100" b="1">
                <a:solidFill>
                  <a:srgbClr val="1A538B"/>
                </a:solidFill>
              </a:rPr>
              <a:t>AUC-ROC Summary</a:t>
            </a:r>
          </a:p>
          <a:p>
            <a:pPr algn="l">
              <a:spcBef>
                <a:spcPts val="300"/>
              </a:spcBef>
            </a:pPr>
            <a:r>
              <a:rPr sz="950">
                <a:solidFill>
                  <a:srgbClr val="444444"/>
                </a:solidFill>
              </a:rPr>
              <a:t>Model                    AUC-ROC</a:t>
            </a:r>
          </a:p>
          <a:p>
            <a:pPr algn="l">
              <a:spcBef>
                <a:spcPts val="300"/>
              </a:spcBef>
            </a:pPr>
            <a:r>
              <a:rPr sz="950">
                <a:solidFill>
                  <a:srgbClr val="444444"/>
                </a:solidFill>
              </a:rPr>
              <a:t>─────────────────────────────────────</a:t>
            </a:r>
          </a:p>
          <a:p>
            <a:pPr algn="l">
              <a:spcBef>
                <a:spcPts val="300"/>
              </a:spcBef>
            </a:pPr>
            <a:r>
              <a:rPr sz="950">
                <a:solidFill>
                  <a:srgbClr val="444444"/>
                </a:solidFill>
              </a:rPr>
              <a:t>Logistic Regression        ~0.64</a:t>
            </a:r>
          </a:p>
          <a:p>
            <a:pPr algn="l">
              <a:spcBef>
                <a:spcPts val="300"/>
              </a:spcBef>
            </a:pPr>
            <a:r>
              <a:rPr sz="950">
                <a:solidFill>
                  <a:srgbClr val="444444"/>
                </a:solidFill>
              </a:rPr>
              <a:t>Random Forest              ~0.66</a:t>
            </a:r>
          </a:p>
          <a:p>
            <a:pPr algn="l">
              <a:spcBef>
                <a:spcPts val="300"/>
              </a:spcBef>
            </a:pPr>
            <a:r>
              <a:rPr sz="950">
                <a:solidFill>
                  <a:srgbClr val="444444"/>
                </a:solidFill>
              </a:rPr>
              <a:t>XGBoost                    ~0.68</a:t>
            </a:r>
          </a:p>
          <a:p>
            <a:pPr algn="l">
              <a:spcBef>
                <a:spcPts val="300"/>
              </a:spcBef>
            </a:pPr>
            <a:r>
              <a:rPr sz="950">
                <a:solidFill>
                  <a:srgbClr val="444444"/>
                </a:solidFill>
              </a:rPr>
              <a:t>Random baseline             0.50</a:t>
            </a:r>
          </a:p>
          <a:p>
            <a:pPr algn="l">
              <a:spcBef>
                <a:spcPts val="300"/>
              </a:spcBef>
            </a:pPr>
            <a:r>
              <a:rPr sz="950">
                <a:solidFill>
                  <a:srgbClr val="444444"/>
                </a:solidFill>
              </a:rPr>
              <a:t/>
            </a:r>
          </a:p>
          <a:p>
            <a:pPr algn="l">
              <a:spcBef>
                <a:spcPts val="300"/>
              </a:spcBef>
            </a:pPr>
            <a:r>
              <a:rPr sz="950">
                <a:solidFill>
                  <a:srgbClr val="444444"/>
                </a:solidFill>
              </a:rPr>
              <a:t>XGBoost wins by boosting weak trees iteratively.</a:t>
            </a:r>
          </a:p>
          <a:p>
            <a:pPr algn="l">
              <a:spcBef>
                <a:spcPts val="300"/>
              </a:spcBef>
            </a:pPr>
            <a:r>
              <a:rPr sz="950">
                <a:solidFill>
                  <a:srgbClr val="444444"/>
                </a:solidFill>
              </a:rPr>
              <a:t>The performance gap is modest — with demographics</a:t>
            </a:r>
          </a:p>
          <a:p>
            <a:pPr algn="l">
              <a:spcBef>
                <a:spcPts val="300"/>
              </a:spcBef>
            </a:pPr>
            <a:r>
              <a:rPr sz="950">
                <a:solidFill>
                  <a:srgbClr val="444444"/>
                </a:solidFill>
              </a:rPr>
              <a:t>only, all models have similar information ceiling.</a:t>
            </a:r>
          </a:p>
        </p:txBody>
      </p:sp>
      <p:sp>
        <p:nvSpPr>
          <p:cNvPr id="7" name="TextBox 6"/>
          <p:cNvSpPr txBox="1"/>
          <p:nvPr/>
        </p:nvSpPr>
        <p:spPr>
          <a:xfrm>
            <a:off x="7452360" y="3246120"/>
            <a:ext cx="4526280" cy="1965960"/>
          </a:xfrm>
          <a:prstGeom prst="rect">
            <a:avLst/>
          </a:prstGeom>
          <a:noFill/>
        </p:spPr>
        <p:txBody>
          <a:bodyPr wrap="square">
            <a:spAutoFit/>
          </a:bodyPr>
          <a:lstStyle/>
          <a:p>
            <a:pPr algn="l"/>
            <a:r>
              <a:rPr sz="1100" b="1">
                <a:solidFill>
                  <a:srgbClr val="1A538B"/>
                </a:solidFill>
              </a:rPr>
              <a:t>Confusion Matrix (XGBoost, threshold=0.5)</a:t>
            </a:r>
          </a:p>
          <a:p>
            <a:pPr algn="l">
              <a:spcBef>
                <a:spcPts val="300"/>
              </a:spcBef>
            </a:pPr>
            <a:r>
              <a:rPr sz="950">
                <a:solidFill>
                  <a:srgbClr val="444444"/>
                </a:solidFill>
              </a:rPr>
              <a:t>              Predicted:</a:t>
            </a:r>
          </a:p>
          <a:p>
            <a:pPr algn="l">
              <a:spcBef>
                <a:spcPts val="300"/>
              </a:spcBef>
            </a:pPr>
            <a:r>
              <a:rPr sz="950">
                <a:solidFill>
                  <a:srgbClr val="444444"/>
                </a:solidFill>
              </a:rPr>
              <a:t>              Not Read.   Readmitted</a:t>
            </a:r>
          </a:p>
          <a:p>
            <a:pPr algn="l">
              <a:spcBef>
                <a:spcPts val="300"/>
              </a:spcBef>
            </a:pPr>
            <a:r>
              <a:rPr sz="950">
                <a:solidFill>
                  <a:srgbClr val="444444"/>
                </a:solidFill>
              </a:rPr>
              <a:t>Actual: No       TN           FP</a:t>
            </a:r>
          </a:p>
          <a:p>
            <a:pPr algn="l">
              <a:spcBef>
                <a:spcPts val="300"/>
              </a:spcBef>
            </a:pPr>
            <a:r>
              <a:rPr sz="950">
                <a:solidFill>
                  <a:srgbClr val="444444"/>
                </a:solidFill>
              </a:rPr>
              <a:t>Actual: Yes      FN           TP</a:t>
            </a:r>
          </a:p>
          <a:p>
            <a:pPr algn="l">
              <a:spcBef>
                <a:spcPts val="300"/>
              </a:spcBef>
            </a:pPr>
            <a:r>
              <a:rPr sz="950">
                <a:solidFill>
                  <a:srgbClr val="444444"/>
                </a:solidFill>
              </a:rPr>
              <a:t/>
            </a:r>
          </a:p>
          <a:p>
            <a:pPr algn="l">
              <a:spcBef>
                <a:spcPts val="300"/>
              </a:spcBef>
            </a:pPr>
            <a:r>
              <a:rPr sz="950">
                <a:solidFill>
                  <a:srgbClr val="444444"/>
                </a:solidFill>
              </a:rPr>
              <a:t>• FN (false negatives) are costly in healthcare</a:t>
            </a:r>
          </a:p>
          <a:p>
            <a:pPr algn="l">
              <a:spcBef>
                <a:spcPts val="300"/>
              </a:spcBef>
            </a:pPr>
            <a:r>
              <a:rPr sz="950">
                <a:solidFill>
                  <a:srgbClr val="444444"/>
                </a:solidFill>
              </a:rPr>
              <a:t>  — missed readmissions that could be prevented</a:t>
            </a:r>
          </a:p>
          <a:p>
            <a:pPr algn="l">
              <a:spcBef>
                <a:spcPts val="300"/>
              </a:spcBef>
            </a:pPr>
            <a:r>
              <a:rPr sz="950">
                <a:solidFill>
                  <a:srgbClr val="444444"/>
                </a:solidFill>
              </a:rPr>
              <a:t>• Lower threshold → fewer FN, more FP (alert fatigue)</a:t>
            </a:r>
          </a:p>
          <a:p>
            <a:pPr algn="l">
              <a:spcBef>
                <a:spcPts val="300"/>
              </a:spcBef>
            </a:pPr>
            <a:r>
              <a:rPr sz="950">
                <a:solidFill>
                  <a:srgbClr val="444444"/>
                </a:solidFill>
              </a:rPr>
              <a:t>• Clinical deployment: tune threshold to acceptable FN</a:t>
            </a:r>
          </a:p>
        </p:txBody>
      </p:sp>
      <p:sp>
        <p:nvSpPr>
          <p:cNvPr id="8" name="Rectangle 7"/>
          <p:cNvSpPr/>
          <p:nvPr/>
        </p:nvSpPr>
        <p:spPr>
          <a:xfrm>
            <a:off x="7452360" y="5321808"/>
            <a:ext cx="4526280" cy="1444752"/>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25512" y="5394960"/>
            <a:ext cx="4389120" cy="274320"/>
          </a:xfrm>
          <a:prstGeom prst="rect">
            <a:avLst/>
          </a:prstGeom>
          <a:noFill/>
        </p:spPr>
        <p:txBody>
          <a:bodyPr wrap="square">
            <a:spAutoFit/>
          </a:bodyPr>
          <a:lstStyle/>
          <a:p>
            <a:pPr algn="l"/>
            <a:r>
              <a:rPr sz="1100" b="1" i="0">
                <a:solidFill>
                  <a:srgbClr val="1E8A44"/>
                </a:solidFill>
              </a:rPr>
              <a:t>Clinical Interpretation</a:t>
            </a:r>
          </a:p>
        </p:txBody>
      </p:sp>
      <p:sp>
        <p:nvSpPr>
          <p:cNvPr id="10" name="TextBox 9"/>
          <p:cNvSpPr txBox="1"/>
          <p:nvPr/>
        </p:nvSpPr>
        <p:spPr>
          <a:xfrm>
            <a:off x="7525512" y="5705856"/>
            <a:ext cx="4389120" cy="987552"/>
          </a:xfrm>
          <a:prstGeom prst="rect">
            <a:avLst/>
          </a:prstGeom>
          <a:noFill/>
        </p:spPr>
        <p:txBody>
          <a:bodyPr wrap="square">
            <a:spAutoFit/>
          </a:bodyPr>
          <a:lstStyle/>
          <a:p>
            <a:pPr algn="l"/>
            <a:r>
              <a:rPr sz="950" b="0" i="0">
                <a:solidFill>
                  <a:srgbClr val="225522"/>
                </a:solidFill>
              </a:rPr>
              <a:t>AUC ~0.68 means the model correctly ranks 68% of readmitted / not-readmitted pairs. With demographics only, this is expected — adding comorbidities and labs typically pushes AUC to 0.75–0.80 in the literature (Kansagara et al., 2011).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SHAP Explainability — Why Did the Model Predict Readmission?</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TreeExplainer  ·  XGBoost</a:t>
            </a:r>
          </a:p>
        </p:txBody>
      </p:sp>
      <p:sp>
        <p:nvSpPr>
          <p:cNvPr id="6" name="TextBox 5"/>
          <p:cNvSpPr txBox="1"/>
          <p:nvPr/>
        </p:nvSpPr>
        <p:spPr>
          <a:xfrm>
            <a:off x="7452360" y="868680"/>
            <a:ext cx="4526280" cy="2103120"/>
          </a:xfrm>
          <a:prstGeom prst="rect">
            <a:avLst/>
          </a:prstGeom>
          <a:noFill/>
        </p:spPr>
        <p:txBody>
          <a:bodyPr wrap="square">
            <a:spAutoFit/>
          </a:bodyPr>
          <a:lstStyle/>
          <a:p>
            <a:pPr algn="l"/>
            <a:r>
              <a:rPr sz="1100" b="1">
                <a:solidFill>
                  <a:srgbClr val="1A538B"/>
                </a:solidFill>
              </a:rPr>
              <a:t>What is SHAP?</a:t>
            </a:r>
          </a:p>
          <a:p>
            <a:pPr algn="l">
              <a:spcBef>
                <a:spcPts val="300"/>
              </a:spcBef>
            </a:pPr>
            <a:r>
              <a:rPr sz="950">
                <a:solidFill>
                  <a:srgbClr val="444444"/>
                </a:solidFill>
              </a:rPr>
              <a:t>• SHAP = SHapley Additive exPlanations</a:t>
            </a:r>
          </a:p>
          <a:p>
            <a:pPr algn="l">
              <a:spcBef>
                <a:spcPts val="300"/>
              </a:spcBef>
            </a:pPr>
            <a:r>
              <a:rPr sz="950">
                <a:solidFill>
                  <a:srgbClr val="444444"/>
                </a:solidFill>
              </a:rPr>
              <a:t>• Based on cooperative game theory (Shapley values)</a:t>
            </a:r>
          </a:p>
          <a:p>
            <a:pPr algn="l">
              <a:spcBef>
                <a:spcPts val="300"/>
              </a:spcBef>
            </a:pPr>
            <a:r>
              <a:rPr sz="950">
                <a:solidFill>
                  <a:srgbClr val="444444"/>
                </a:solidFill>
              </a:rPr>
              <a:t>• Assigns each feature a contribution to the prediction</a:t>
            </a:r>
          </a:p>
          <a:p>
            <a:pPr algn="l">
              <a:spcBef>
                <a:spcPts val="300"/>
              </a:spcBef>
            </a:pPr>
            <a:r>
              <a:rPr sz="950">
                <a:solidFill>
                  <a:srgbClr val="444444"/>
                </a:solidFill>
              </a:rPr>
              <a:t>  relative to the model average (base rate)</a:t>
            </a:r>
          </a:p>
          <a:p>
            <a:pPr algn="l">
              <a:spcBef>
                <a:spcPts val="300"/>
              </a:spcBef>
            </a:pPr>
            <a:r>
              <a:rPr sz="950">
                <a:solidFill>
                  <a:srgbClr val="444444"/>
                </a:solidFill>
              </a:rPr>
              <a:t>• TreeExplainer: EXACT, fast for tree models</a:t>
            </a:r>
          </a:p>
          <a:p>
            <a:pPr algn="l">
              <a:spcBef>
                <a:spcPts val="300"/>
              </a:spcBef>
            </a:pPr>
            <a:r>
              <a:rPr sz="950">
                <a:solidFill>
                  <a:srgbClr val="444444"/>
                </a:solidFill>
              </a:rPr>
              <a:t/>
            </a:r>
          </a:p>
          <a:p>
            <a:pPr algn="l">
              <a:spcBef>
                <a:spcPts val="300"/>
              </a:spcBef>
            </a:pPr>
            <a:r>
              <a:rPr sz="950">
                <a:solidFill>
                  <a:srgbClr val="444444"/>
                </a:solidFill>
              </a:rPr>
              <a:t>Reading the beeswarm plot:</a:t>
            </a:r>
          </a:p>
          <a:p>
            <a:pPr algn="l">
              <a:spcBef>
                <a:spcPts val="300"/>
              </a:spcBef>
            </a:pPr>
            <a:r>
              <a:rPr sz="950">
                <a:solidFill>
                  <a:srgbClr val="444444"/>
                </a:solidFill>
              </a:rPr>
              <a:t>  X-axis  = SHAP value (positive → readmission risk ↑)</a:t>
            </a:r>
          </a:p>
          <a:p>
            <a:pPr algn="l">
              <a:spcBef>
                <a:spcPts val="300"/>
              </a:spcBef>
            </a:pPr>
            <a:r>
              <a:rPr sz="950">
                <a:solidFill>
                  <a:srgbClr val="444444"/>
                </a:solidFill>
              </a:rPr>
              <a:t>  Y-axis  = features ranked by mean |SHAP|</a:t>
            </a:r>
          </a:p>
          <a:p>
            <a:pPr algn="l">
              <a:spcBef>
                <a:spcPts val="300"/>
              </a:spcBef>
            </a:pPr>
            <a:r>
              <a:rPr sz="950">
                <a:solidFill>
                  <a:srgbClr val="444444"/>
                </a:solidFill>
              </a:rPr>
              <a:t>  Color   = feature value (red=high, blue=low)</a:t>
            </a:r>
          </a:p>
          <a:p>
            <a:pPr algn="l">
              <a:spcBef>
                <a:spcPts val="300"/>
              </a:spcBef>
            </a:pPr>
            <a:r>
              <a:rPr sz="950">
                <a:solidFill>
                  <a:srgbClr val="444444"/>
                </a:solidFill>
              </a:rPr>
              <a:t>  Each dot = one patient in the test set</a:t>
            </a:r>
          </a:p>
        </p:txBody>
      </p:sp>
      <p:sp>
        <p:nvSpPr>
          <p:cNvPr id="7" name="TextBox 6"/>
          <p:cNvSpPr txBox="1"/>
          <p:nvPr/>
        </p:nvSpPr>
        <p:spPr>
          <a:xfrm>
            <a:off x="7452360" y="3108960"/>
            <a:ext cx="4526280" cy="2103120"/>
          </a:xfrm>
          <a:prstGeom prst="rect">
            <a:avLst/>
          </a:prstGeom>
          <a:noFill/>
        </p:spPr>
        <p:txBody>
          <a:bodyPr wrap="square">
            <a:spAutoFit/>
          </a:bodyPr>
          <a:lstStyle/>
          <a:p>
            <a:pPr algn="l"/>
            <a:r>
              <a:rPr sz="1100" b="1">
                <a:solidFill>
                  <a:srgbClr val="1A538B"/>
                </a:solidFill>
              </a:rPr>
              <a:t>Clinical Interpretation of Top Features</a:t>
            </a:r>
          </a:p>
          <a:p>
            <a:pPr algn="l">
              <a:spcBef>
                <a:spcPts val="300"/>
              </a:spcBef>
            </a:pPr>
            <a:r>
              <a:rPr sz="950">
                <a:solidFill>
                  <a:srgbClr val="444444"/>
                </a:solidFill>
              </a:rPr>
              <a:t>age</a:t>
            </a:r>
          </a:p>
          <a:p>
            <a:pPr algn="l">
              <a:spcBef>
                <a:spcPts val="300"/>
              </a:spcBef>
            </a:pPr>
            <a:r>
              <a:rPr sz="950">
                <a:solidFill>
                  <a:srgbClr val="444444"/>
                </a:solidFill>
              </a:rPr>
              <a:t>  High age → high positive SHAP → more readmission risk</a:t>
            </a:r>
          </a:p>
          <a:p>
            <a:pPr algn="l">
              <a:spcBef>
                <a:spcPts val="300"/>
              </a:spcBef>
            </a:pPr>
            <a:r>
              <a:rPr sz="950">
                <a:solidFill>
                  <a:srgbClr val="444444"/>
                </a:solidFill>
              </a:rPr>
              <a:t>  Elderly patients have more comorbidities + weaker recovery</a:t>
            </a:r>
          </a:p>
          <a:p>
            <a:pPr algn="l">
              <a:spcBef>
                <a:spcPts val="300"/>
              </a:spcBef>
            </a:pPr>
            <a:r>
              <a:rPr sz="950">
                <a:solidFill>
                  <a:srgbClr val="444444"/>
                </a:solidFill>
              </a:rPr>
              <a:t/>
            </a:r>
          </a:p>
          <a:p>
            <a:pPr algn="l">
              <a:spcBef>
                <a:spcPts val="300"/>
              </a:spcBef>
            </a:pPr>
            <a:r>
              <a:rPr sz="950">
                <a:solidFill>
                  <a:srgbClr val="444444"/>
                </a:solidFill>
              </a:rPr>
              <a:t>insurance_Medicare</a:t>
            </a:r>
          </a:p>
          <a:p>
            <a:pPr algn="l">
              <a:spcBef>
                <a:spcPts val="300"/>
              </a:spcBef>
            </a:pPr>
            <a:r>
              <a:rPr sz="950">
                <a:solidFill>
                  <a:srgbClr val="444444"/>
                </a:solidFill>
              </a:rPr>
              <a:t>  Medicare correlates with age + disease severity</a:t>
            </a:r>
          </a:p>
          <a:p>
            <a:pPr algn="l">
              <a:spcBef>
                <a:spcPts val="300"/>
              </a:spcBef>
            </a:pPr>
            <a:r>
              <a:rPr sz="950">
                <a:solidFill>
                  <a:srgbClr val="444444"/>
                </a:solidFill>
              </a:rPr>
              <a:t>  Positive SHAP: Medicare patients are higher risk</a:t>
            </a:r>
          </a:p>
          <a:p>
            <a:pPr algn="l">
              <a:spcBef>
                <a:spcPts val="300"/>
              </a:spcBef>
            </a:pPr>
            <a:r>
              <a:rPr sz="950">
                <a:solidFill>
                  <a:srgbClr val="444444"/>
                </a:solidFill>
              </a:rPr>
              <a:t/>
            </a:r>
          </a:p>
          <a:p>
            <a:pPr algn="l">
              <a:spcBef>
                <a:spcPts val="300"/>
              </a:spcBef>
            </a:pPr>
            <a:r>
              <a:rPr sz="950">
                <a:solidFill>
                  <a:srgbClr val="444444"/>
                </a:solidFill>
              </a:rPr>
              <a:t>admission_type_EMERGENCY</a:t>
            </a:r>
          </a:p>
          <a:p>
            <a:pPr algn="l">
              <a:spcBef>
                <a:spcPts val="300"/>
              </a:spcBef>
            </a:pPr>
            <a:r>
              <a:rPr sz="950">
                <a:solidFill>
                  <a:srgbClr val="444444"/>
                </a:solidFill>
              </a:rPr>
              <a:t>  Emergency admissions = acute, unplanned illness</a:t>
            </a:r>
          </a:p>
          <a:p>
            <a:pPr algn="l">
              <a:spcBef>
                <a:spcPts val="300"/>
              </a:spcBef>
            </a:pPr>
            <a:r>
              <a:rPr sz="950">
                <a:solidFill>
                  <a:srgbClr val="444444"/>
                </a:solidFill>
              </a:rPr>
              <a:t>  Positive SHAP: emergency entry predicts return</a:t>
            </a:r>
          </a:p>
          <a:p>
            <a:pPr algn="l">
              <a:spcBef>
                <a:spcPts val="300"/>
              </a:spcBef>
            </a:pPr>
            <a:r>
              <a:rPr sz="950">
                <a:solidFill>
                  <a:srgbClr val="444444"/>
                </a:solidFill>
              </a:rPr>
              <a:t/>
            </a:r>
          </a:p>
          <a:p>
            <a:pPr algn="l">
              <a:spcBef>
                <a:spcPts val="300"/>
              </a:spcBef>
            </a:pPr>
            <a:r>
              <a:rPr sz="950">
                <a:solidFill>
                  <a:srgbClr val="444444"/>
                </a:solidFill>
              </a:rPr>
              <a:t>insurance_Private</a:t>
            </a:r>
          </a:p>
          <a:p>
            <a:pPr algn="l">
              <a:spcBef>
                <a:spcPts val="300"/>
              </a:spcBef>
            </a:pPr>
            <a:r>
              <a:rPr sz="950">
                <a:solidFill>
                  <a:srgbClr val="444444"/>
                </a:solidFill>
              </a:rPr>
              <a:t>  Typically negative SHAP: younger, healthier population</a:t>
            </a:r>
          </a:p>
        </p:txBody>
      </p:sp>
      <p:sp>
        <p:nvSpPr>
          <p:cNvPr id="8" name="Rectangle 7"/>
          <p:cNvSpPr/>
          <p:nvPr/>
        </p:nvSpPr>
        <p:spPr>
          <a:xfrm>
            <a:off x="7452360" y="5321808"/>
            <a:ext cx="4526280" cy="1444752"/>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25512" y="5394960"/>
            <a:ext cx="4389120" cy="274320"/>
          </a:xfrm>
          <a:prstGeom prst="rect">
            <a:avLst/>
          </a:prstGeom>
          <a:noFill/>
        </p:spPr>
        <p:txBody>
          <a:bodyPr wrap="square">
            <a:spAutoFit/>
          </a:bodyPr>
          <a:lstStyle/>
          <a:p>
            <a:pPr algn="l"/>
            <a:r>
              <a:rPr sz="1100" b="1" i="0">
                <a:solidFill>
                  <a:srgbClr val="1E8A44"/>
                </a:solidFill>
              </a:rPr>
              <a:t>Why SHAP Matters Clinically</a:t>
            </a:r>
          </a:p>
        </p:txBody>
      </p:sp>
      <p:sp>
        <p:nvSpPr>
          <p:cNvPr id="10" name="TextBox 9"/>
          <p:cNvSpPr txBox="1"/>
          <p:nvPr/>
        </p:nvSpPr>
        <p:spPr>
          <a:xfrm>
            <a:off x="7525512" y="5705856"/>
            <a:ext cx="4389120" cy="987552"/>
          </a:xfrm>
          <a:prstGeom prst="rect">
            <a:avLst/>
          </a:prstGeom>
          <a:noFill/>
        </p:spPr>
        <p:txBody>
          <a:bodyPr wrap="square">
            <a:spAutoFit/>
          </a:bodyPr>
          <a:lstStyle/>
          <a:p>
            <a:pPr algn="l"/>
            <a:r>
              <a:rPr sz="950" b="0" i="0">
                <a:solidFill>
                  <a:srgbClr val="225522"/>
                </a:solidFill>
              </a:rPr>
              <a:t>Black-box predictions are not actionable. A clinician needs to know WHY a patient is flagged high-risk. SHAP translates model math into clinical reasoning: "this patient is flagged because they are 78, on Medicare, and came in as an emergency admission."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Model Comparison — Strengths &amp; Tradeoffs</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LR  ·  RF  ·  XGBoost</a:t>
            </a:r>
          </a:p>
        </p:txBody>
      </p:sp>
      <p:sp>
        <p:nvSpPr>
          <p:cNvPr id="6" name="Rectangle 5"/>
          <p:cNvSpPr/>
          <p:nvPr/>
        </p:nvSpPr>
        <p:spPr>
          <a:xfrm>
            <a:off x="256032" y="914400"/>
            <a:ext cx="356616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60120"/>
            <a:ext cx="3474720" cy="274320"/>
          </a:xfrm>
          <a:prstGeom prst="rect">
            <a:avLst/>
          </a:prstGeom>
          <a:noFill/>
        </p:spPr>
        <p:txBody>
          <a:bodyPr wrap="square">
            <a:spAutoFit/>
          </a:bodyPr>
          <a:lstStyle/>
          <a:p>
            <a:pPr algn="l"/>
            <a:r>
              <a:rPr sz="1200" b="1" i="0">
                <a:solidFill>
                  <a:srgbClr val="FFFFFF"/>
                </a:solidFill>
              </a:rPr>
              <a:t>Logistic Regression</a:t>
            </a:r>
          </a:p>
        </p:txBody>
      </p:sp>
      <p:sp>
        <p:nvSpPr>
          <p:cNvPr id="8" name="TextBox 7"/>
          <p:cNvSpPr txBox="1"/>
          <p:nvPr/>
        </p:nvSpPr>
        <p:spPr>
          <a:xfrm>
            <a:off x="256032" y="1261872"/>
            <a:ext cx="3566160" cy="5212080"/>
          </a:xfrm>
          <a:prstGeom prst="rect">
            <a:avLst/>
          </a:prstGeom>
          <a:noFill/>
        </p:spPr>
        <p:txBody>
          <a:bodyPr wrap="square">
            <a:spAutoFit/>
          </a:bodyPr>
          <a:lstStyle/>
          <a:p>
            <a:pPr algn="l">
              <a:spcBef>
                <a:spcPts val="300"/>
              </a:spcBef>
            </a:pPr>
            <a:r>
              <a:rPr sz="950">
                <a:solidFill>
                  <a:srgbClr val="444444"/>
                </a:solidFill>
              </a:rPr>
              <a:t>✓ Fully interpretable coefficients</a:t>
            </a:r>
          </a:p>
          <a:p>
            <a:pPr algn="l">
              <a:spcBef>
                <a:spcPts val="300"/>
              </a:spcBef>
            </a:pPr>
            <a:r>
              <a:rPr sz="950">
                <a:solidFill>
                  <a:srgbClr val="444444"/>
                </a:solidFill>
              </a:rPr>
              <a:t>✓ Fastest to train (&lt;1 second)</a:t>
            </a:r>
          </a:p>
          <a:p>
            <a:pPr algn="l">
              <a:spcBef>
                <a:spcPts val="300"/>
              </a:spcBef>
            </a:pPr>
            <a:r>
              <a:rPr sz="950">
                <a:solidFill>
                  <a:srgbClr val="444444"/>
                </a:solidFill>
              </a:rPr>
              <a:t>✓ Probabilistic output well-calibrated</a:t>
            </a:r>
          </a:p>
          <a:p>
            <a:pPr algn="l">
              <a:spcBef>
                <a:spcPts val="300"/>
              </a:spcBef>
            </a:pPr>
            <a:r>
              <a:rPr sz="950">
                <a:solidFill>
                  <a:srgbClr val="444444"/>
                </a:solidFill>
              </a:rPr>
              <a:t>✓ No hyperparameter tuning needed</a:t>
            </a:r>
          </a:p>
          <a:p>
            <a:pPr algn="l">
              <a:spcBef>
                <a:spcPts val="300"/>
              </a:spcBef>
            </a:pPr>
            <a:r>
              <a:rPr sz="950">
                <a:solidFill>
                  <a:srgbClr val="444444"/>
                </a:solidFill>
              </a:rPr>
              <a:t>✓ Great clinical baseline</a:t>
            </a:r>
          </a:p>
          <a:p>
            <a:pPr algn="l">
              <a:spcBef>
                <a:spcPts val="300"/>
              </a:spcBef>
            </a:pPr>
            <a:r>
              <a:rPr sz="950">
                <a:solidFill>
                  <a:srgbClr val="444444"/>
                </a:solidFill>
              </a:rPr>
              <a:t/>
            </a:r>
          </a:p>
          <a:p>
            <a:pPr algn="l">
              <a:spcBef>
                <a:spcPts val="300"/>
              </a:spcBef>
            </a:pPr>
            <a:r>
              <a:rPr sz="950">
                <a:solidFill>
                  <a:srgbClr val="444444"/>
                </a:solidFill>
              </a:rPr>
              <a:t>✗ Assumes linear decision boundary</a:t>
            </a:r>
          </a:p>
          <a:p>
            <a:pPr algn="l">
              <a:spcBef>
                <a:spcPts val="300"/>
              </a:spcBef>
            </a:pPr>
            <a:r>
              <a:rPr sz="950">
                <a:solidFill>
                  <a:srgbClr val="444444"/>
                </a:solidFill>
              </a:rPr>
              <a:t>✗ Cannot capture feature interactions</a:t>
            </a:r>
          </a:p>
          <a:p>
            <a:pPr algn="l">
              <a:spcBef>
                <a:spcPts val="300"/>
              </a:spcBef>
            </a:pPr>
            <a:r>
              <a:rPr sz="950">
                <a:solidFill>
                  <a:srgbClr val="444444"/>
                </a:solidFill>
              </a:rPr>
              <a:t>  (e.g., age × insurance interaction)</a:t>
            </a:r>
          </a:p>
          <a:p>
            <a:pPr algn="l">
              <a:spcBef>
                <a:spcPts val="300"/>
              </a:spcBef>
            </a:pPr>
            <a:r>
              <a:rPr sz="950">
                <a:solidFill>
                  <a:srgbClr val="444444"/>
                </a:solidFill>
              </a:rPr>
              <a:t>✗ Lowest AUC (~0.64)</a:t>
            </a:r>
          </a:p>
          <a:p>
            <a:pPr algn="l">
              <a:spcBef>
                <a:spcPts val="300"/>
              </a:spcBef>
            </a:pPr>
            <a:r>
              <a:rPr sz="950">
                <a:solidFill>
                  <a:srgbClr val="444444"/>
                </a:solidFill>
              </a:rPr>
              <a:t/>
            </a:r>
          </a:p>
          <a:p>
            <a:pPr algn="l">
              <a:spcBef>
                <a:spcPts val="300"/>
              </a:spcBef>
            </a:pPr>
            <a:r>
              <a:rPr sz="950">
                <a:solidFill>
                  <a:srgbClr val="444444"/>
                </a:solidFill>
              </a:rPr>
              <a:t>Typical AUC: ~0.64</a:t>
            </a:r>
          </a:p>
          <a:p>
            <a:pPr algn="l">
              <a:spcBef>
                <a:spcPts val="300"/>
              </a:spcBef>
            </a:pPr>
            <a:r>
              <a:rPr sz="950">
                <a:solidFill>
                  <a:srgbClr val="444444"/>
                </a:solidFill>
              </a:rPr>
              <a:t/>
            </a:r>
          </a:p>
          <a:p>
            <a:pPr algn="l">
              <a:spcBef>
                <a:spcPts val="300"/>
              </a:spcBef>
            </a:pPr>
            <a:r>
              <a:rPr sz="950">
                <a:solidFill>
                  <a:srgbClr val="444444"/>
                </a:solidFill>
              </a:rPr>
              <a:t>Best for:</a:t>
            </a:r>
          </a:p>
          <a:p>
            <a:pPr algn="l">
              <a:spcBef>
                <a:spcPts val="300"/>
              </a:spcBef>
            </a:pPr>
            <a:r>
              <a:rPr sz="950">
                <a:solidFill>
                  <a:srgbClr val="444444"/>
                </a:solidFill>
              </a:rPr>
              <a:t>  Audit-ready clinical systems</a:t>
            </a:r>
          </a:p>
          <a:p>
            <a:pPr algn="l">
              <a:spcBef>
                <a:spcPts val="300"/>
              </a:spcBef>
            </a:pPr>
            <a:r>
              <a:rPr sz="950">
                <a:solidFill>
                  <a:srgbClr val="444444"/>
                </a:solidFill>
              </a:rPr>
              <a:t>  When interpretability is required</a:t>
            </a:r>
          </a:p>
          <a:p>
            <a:pPr algn="l">
              <a:spcBef>
                <a:spcPts val="300"/>
              </a:spcBef>
            </a:pPr>
            <a:r>
              <a:rPr sz="950">
                <a:solidFill>
                  <a:srgbClr val="444444"/>
                </a:solidFill>
              </a:rPr>
              <a:t>  Fast iteration / debugging</a:t>
            </a:r>
          </a:p>
        </p:txBody>
      </p:sp>
      <p:sp>
        <p:nvSpPr>
          <p:cNvPr id="9" name="Rectangle 8"/>
          <p:cNvSpPr/>
          <p:nvPr/>
        </p:nvSpPr>
        <p:spPr>
          <a:xfrm>
            <a:off x="4041648" y="914400"/>
            <a:ext cx="3566160" cy="347472"/>
          </a:xfrm>
          <a:prstGeom prst="rect">
            <a:avLst/>
          </a:prstGeom>
          <a:solidFill>
            <a:srgbClr val="1A6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33088" y="960120"/>
            <a:ext cx="3474720" cy="274320"/>
          </a:xfrm>
          <a:prstGeom prst="rect">
            <a:avLst/>
          </a:prstGeom>
          <a:noFill/>
        </p:spPr>
        <p:txBody>
          <a:bodyPr wrap="square">
            <a:spAutoFit/>
          </a:bodyPr>
          <a:lstStyle/>
          <a:p>
            <a:pPr algn="l"/>
            <a:r>
              <a:rPr sz="1200" b="1" i="0">
                <a:solidFill>
                  <a:srgbClr val="FFFFFF"/>
                </a:solidFill>
              </a:rPr>
              <a:t>Random Forest</a:t>
            </a:r>
          </a:p>
        </p:txBody>
      </p:sp>
      <p:sp>
        <p:nvSpPr>
          <p:cNvPr id="11" name="TextBox 10"/>
          <p:cNvSpPr txBox="1"/>
          <p:nvPr/>
        </p:nvSpPr>
        <p:spPr>
          <a:xfrm>
            <a:off x="4041648" y="1261872"/>
            <a:ext cx="3566160" cy="5212080"/>
          </a:xfrm>
          <a:prstGeom prst="rect">
            <a:avLst/>
          </a:prstGeom>
          <a:noFill/>
        </p:spPr>
        <p:txBody>
          <a:bodyPr wrap="square">
            <a:spAutoFit/>
          </a:bodyPr>
          <a:lstStyle/>
          <a:p>
            <a:pPr algn="l">
              <a:spcBef>
                <a:spcPts val="300"/>
              </a:spcBef>
            </a:pPr>
            <a:r>
              <a:rPr sz="950">
                <a:solidFill>
                  <a:srgbClr val="444444"/>
                </a:solidFill>
              </a:rPr>
              <a:t>✓ Handles non-linear relationships</a:t>
            </a:r>
          </a:p>
          <a:p>
            <a:pPr algn="l">
              <a:spcBef>
                <a:spcPts val="300"/>
              </a:spcBef>
            </a:pPr>
            <a:r>
              <a:rPr sz="950">
                <a:solidFill>
                  <a:srgbClr val="444444"/>
                </a:solidFill>
              </a:rPr>
              <a:t>✓ Robust to outliers + noise</a:t>
            </a:r>
          </a:p>
          <a:p>
            <a:pPr algn="l">
              <a:spcBef>
                <a:spcPts val="300"/>
              </a:spcBef>
            </a:pPr>
            <a:r>
              <a:rPr sz="950">
                <a:solidFill>
                  <a:srgbClr val="444444"/>
                </a:solidFill>
              </a:rPr>
              <a:t>✓ Built-in feature importance</a:t>
            </a:r>
          </a:p>
          <a:p>
            <a:pPr algn="l">
              <a:spcBef>
                <a:spcPts val="300"/>
              </a:spcBef>
            </a:pPr>
            <a:r>
              <a:rPr sz="950">
                <a:solidFill>
                  <a:srgbClr val="444444"/>
                </a:solidFill>
              </a:rPr>
              <a:t>✓ Less prone to overfitting than single DT</a:t>
            </a:r>
          </a:p>
          <a:p>
            <a:pPr algn="l">
              <a:spcBef>
                <a:spcPts val="300"/>
              </a:spcBef>
            </a:pPr>
            <a:r>
              <a:rPr sz="950">
                <a:solidFill>
                  <a:srgbClr val="444444"/>
                </a:solidFill>
              </a:rPr>
              <a:t>✓ Good out-of-the-box performance</a:t>
            </a:r>
          </a:p>
          <a:p>
            <a:pPr algn="l">
              <a:spcBef>
                <a:spcPts val="300"/>
              </a:spcBef>
            </a:pPr>
            <a:r>
              <a:rPr sz="950">
                <a:solidFill>
                  <a:srgbClr val="444444"/>
                </a:solidFill>
              </a:rPr>
              <a:t/>
            </a:r>
          </a:p>
          <a:p>
            <a:pPr algn="l">
              <a:spcBef>
                <a:spcPts val="300"/>
              </a:spcBef>
            </a:pPr>
            <a:r>
              <a:rPr sz="950">
                <a:solidFill>
                  <a:srgbClr val="444444"/>
                </a:solidFill>
              </a:rPr>
              <a:t>✗ Slower than LR (200 trees × ~58K rows)</a:t>
            </a:r>
          </a:p>
          <a:p>
            <a:pPr algn="l">
              <a:spcBef>
                <a:spcPts val="300"/>
              </a:spcBef>
            </a:pPr>
            <a:r>
              <a:rPr sz="950">
                <a:solidFill>
                  <a:srgbClr val="444444"/>
                </a:solidFill>
              </a:rPr>
              <a:t>✗ Memory-intensive for large feature sets</a:t>
            </a:r>
          </a:p>
          <a:p>
            <a:pPr algn="l">
              <a:spcBef>
                <a:spcPts val="300"/>
              </a:spcBef>
            </a:pPr>
            <a:r>
              <a:rPr sz="950">
                <a:solidFill>
                  <a:srgbClr val="444444"/>
                </a:solidFill>
              </a:rPr>
              <a:t>✗ Feature importance biased toward</a:t>
            </a:r>
          </a:p>
          <a:p>
            <a:pPr algn="l">
              <a:spcBef>
                <a:spcPts val="300"/>
              </a:spcBef>
            </a:pPr>
            <a:r>
              <a:rPr sz="950">
                <a:solidFill>
                  <a:srgbClr val="444444"/>
                </a:solidFill>
              </a:rPr>
              <a:t>  high-cardinality categoricals</a:t>
            </a:r>
          </a:p>
          <a:p>
            <a:pPr algn="l">
              <a:spcBef>
                <a:spcPts val="300"/>
              </a:spcBef>
            </a:pPr>
            <a:r>
              <a:rPr sz="950">
                <a:solidFill>
                  <a:srgbClr val="444444"/>
                </a:solidFill>
              </a:rPr>
              <a:t/>
            </a:r>
          </a:p>
          <a:p>
            <a:pPr algn="l">
              <a:spcBef>
                <a:spcPts val="300"/>
              </a:spcBef>
            </a:pPr>
            <a:r>
              <a:rPr sz="950">
                <a:solidFill>
                  <a:srgbClr val="444444"/>
                </a:solidFill>
              </a:rPr>
              <a:t>Typical AUC: ~0.66</a:t>
            </a:r>
          </a:p>
          <a:p>
            <a:pPr algn="l">
              <a:spcBef>
                <a:spcPts val="300"/>
              </a:spcBef>
            </a:pPr>
            <a:r>
              <a:rPr sz="950">
                <a:solidFill>
                  <a:srgbClr val="444444"/>
                </a:solidFill>
              </a:rPr>
              <a:t/>
            </a:r>
          </a:p>
          <a:p>
            <a:pPr algn="l">
              <a:spcBef>
                <a:spcPts val="300"/>
              </a:spcBef>
            </a:pPr>
            <a:r>
              <a:rPr sz="950">
                <a:solidFill>
                  <a:srgbClr val="444444"/>
                </a:solidFill>
              </a:rPr>
              <a:t>Best for:</a:t>
            </a:r>
          </a:p>
          <a:p>
            <a:pPr algn="l">
              <a:spcBef>
                <a:spcPts val="300"/>
              </a:spcBef>
            </a:pPr>
            <a:r>
              <a:rPr sz="950">
                <a:solidFill>
                  <a:srgbClr val="444444"/>
                </a:solidFill>
              </a:rPr>
              <a:t>  Medium-sized tabular datasets</a:t>
            </a:r>
          </a:p>
          <a:p>
            <a:pPr algn="l">
              <a:spcBef>
                <a:spcPts val="300"/>
              </a:spcBef>
            </a:pPr>
            <a:r>
              <a:rPr sz="950">
                <a:solidFill>
                  <a:srgbClr val="444444"/>
                </a:solidFill>
              </a:rPr>
              <a:t>  When non-linear patterns expected</a:t>
            </a:r>
          </a:p>
          <a:p>
            <a:pPr algn="l">
              <a:spcBef>
                <a:spcPts val="300"/>
              </a:spcBef>
            </a:pPr>
            <a:r>
              <a:rPr sz="950">
                <a:solidFill>
                  <a:srgbClr val="444444"/>
                </a:solidFill>
              </a:rPr>
              <a:t>  Feature importance baseline</a:t>
            </a:r>
          </a:p>
        </p:txBody>
      </p:sp>
      <p:sp>
        <p:nvSpPr>
          <p:cNvPr id="12" name="Rectangle 11"/>
          <p:cNvSpPr/>
          <p:nvPr/>
        </p:nvSpPr>
        <p:spPr>
          <a:xfrm>
            <a:off x="7790688" y="914400"/>
            <a:ext cx="3566160" cy="347472"/>
          </a:xfrm>
          <a:prstGeom prst="rect">
            <a:avLst/>
          </a:prstGeom>
          <a:solidFill>
            <a:srgbClr val="C44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960120"/>
            <a:ext cx="3474720" cy="274320"/>
          </a:xfrm>
          <a:prstGeom prst="rect">
            <a:avLst/>
          </a:prstGeom>
          <a:noFill/>
        </p:spPr>
        <p:txBody>
          <a:bodyPr wrap="square">
            <a:spAutoFit/>
          </a:bodyPr>
          <a:lstStyle/>
          <a:p>
            <a:pPr algn="l"/>
            <a:r>
              <a:rPr sz="1200" b="1" i="0">
                <a:solidFill>
                  <a:srgbClr val="FFFFFF"/>
                </a:solidFill>
              </a:rPr>
              <a:t>XGBoost</a:t>
            </a:r>
          </a:p>
        </p:txBody>
      </p:sp>
      <p:sp>
        <p:nvSpPr>
          <p:cNvPr id="14" name="TextBox 13"/>
          <p:cNvSpPr txBox="1"/>
          <p:nvPr/>
        </p:nvSpPr>
        <p:spPr>
          <a:xfrm>
            <a:off x="7790688" y="1261872"/>
            <a:ext cx="3566160" cy="5212080"/>
          </a:xfrm>
          <a:prstGeom prst="rect">
            <a:avLst/>
          </a:prstGeom>
          <a:noFill/>
        </p:spPr>
        <p:txBody>
          <a:bodyPr wrap="square">
            <a:spAutoFit/>
          </a:bodyPr>
          <a:lstStyle/>
          <a:p>
            <a:pPr algn="l">
              <a:spcBef>
                <a:spcPts val="300"/>
              </a:spcBef>
            </a:pPr>
            <a:r>
              <a:rPr sz="950">
                <a:solidFill>
                  <a:srgbClr val="444444"/>
                </a:solidFill>
              </a:rPr>
              <a:t>✓ Best AUC in our experiment (~0.68)</a:t>
            </a:r>
          </a:p>
          <a:p>
            <a:pPr algn="l">
              <a:spcBef>
                <a:spcPts val="300"/>
              </a:spcBef>
            </a:pPr>
            <a:r>
              <a:rPr sz="950">
                <a:solidFill>
                  <a:srgbClr val="444444"/>
                </a:solidFill>
              </a:rPr>
              <a:t>✓ Gradient boosting: corrects prior errors</a:t>
            </a:r>
          </a:p>
          <a:p>
            <a:pPr algn="l">
              <a:spcBef>
                <a:spcPts val="300"/>
              </a:spcBef>
            </a:pPr>
            <a:r>
              <a:rPr sz="950">
                <a:solidFill>
                  <a:srgbClr val="444444"/>
                </a:solidFill>
              </a:rPr>
              <a:t>✓ scale_pos_weight handles imbalance well</a:t>
            </a:r>
          </a:p>
          <a:p>
            <a:pPr algn="l">
              <a:spcBef>
                <a:spcPts val="300"/>
              </a:spcBef>
            </a:pPr>
            <a:r>
              <a:rPr sz="950">
                <a:solidFill>
                  <a:srgbClr val="444444"/>
                </a:solidFill>
              </a:rPr>
              <a:t>✓ SHAP TreeExplainer: exact explanations</a:t>
            </a:r>
          </a:p>
          <a:p>
            <a:pPr algn="l">
              <a:spcBef>
                <a:spcPts val="300"/>
              </a:spcBef>
            </a:pPr>
            <a:r>
              <a:rPr sz="950">
                <a:solidFill>
                  <a:srgbClr val="444444"/>
                </a:solidFill>
              </a:rPr>
              <a:t>✓ Highly tunable (depth, LR, subsample)</a:t>
            </a:r>
          </a:p>
          <a:p>
            <a:pPr algn="l">
              <a:spcBef>
                <a:spcPts val="300"/>
              </a:spcBef>
            </a:pPr>
            <a:r>
              <a:rPr sz="950">
                <a:solidFill>
                  <a:srgbClr val="444444"/>
                </a:solidFill>
              </a:rPr>
              <a:t/>
            </a:r>
          </a:p>
          <a:p>
            <a:pPr algn="l">
              <a:spcBef>
                <a:spcPts val="300"/>
              </a:spcBef>
            </a:pPr>
            <a:r>
              <a:rPr sz="950">
                <a:solidFill>
                  <a:srgbClr val="444444"/>
                </a:solidFill>
              </a:rPr>
              <a:t>✗ More hyperparameters to tune</a:t>
            </a:r>
          </a:p>
          <a:p>
            <a:pPr algn="l">
              <a:spcBef>
                <a:spcPts val="300"/>
              </a:spcBef>
            </a:pPr>
            <a:r>
              <a:rPr sz="950">
                <a:solidFill>
                  <a:srgbClr val="444444"/>
                </a:solidFill>
              </a:rPr>
              <a:t>✗ Risk of overfitting if not regularized</a:t>
            </a:r>
          </a:p>
          <a:p>
            <a:pPr algn="l">
              <a:spcBef>
                <a:spcPts val="300"/>
              </a:spcBef>
            </a:pPr>
            <a:r>
              <a:rPr sz="950">
                <a:solidFill>
                  <a:srgbClr val="444444"/>
                </a:solidFill>
              </a:rPr>
              <a:t>✗ Sequential training (not parallelized</a:t>
            </a:r>
          </a:p>
          <a:p>
            <a:pPr algn="l">
              <a:spcBef>
                <a:spcPts val="300"/>
              </a:spcBef>
            </a:pPr>
            <a:r>
              <a:rPr sz="950">
                <a:solidFill>
                  <a:srgbClr val="444444"/>
                </a:solidFill>
              </a:rPr>
              <a:t>  across boosting rounds)</a:t>
            </a:r>
          </a:p>
          <a:p>
            <a:pPr algn="l">
              <a:spcBef>
                <a:spcPts val="300"/>
              </a:spcBef>
            </a:pPr>
            <a:r>
              <a:rPr sz="950">
                <a:solidFill>
                  <a:srgbClr val="444444"/>
                </a:solidFill>
              </a:rPr>
              <a:t/>
            </a:r>
          </a:p>
          <a:p>
            <a:pPr algn="l">
              <a:spcBef>
                <a:spcPts val="300"/>
              </a:spcBef>
            </a:pPr>
            <a:r>
              <a:rPr sz="950">
                <a:solidFill>
                  <a:srgbClr val="444444"/>
                </a:solidFill>
              </a:rPr>
              <a:t>Typical AUC: ~0.68</a:t>
            </a:r>
          </a:p>
          <a:p>
            <a:pPr algn="l">
              <a:spcBef>
                <a:spcPts val="300"/>
              </a:spcBef>
            </a:pPr>
            <a:r>
              <a:rPr sz="950">
                <a:solidFill>
                  <a:srgbClr val="444444"/>
                </a:solidFill>
              </a:rPr>
              <a:t/>
            </a:r>
          </a:p>
          <a:p>
            <a:pPr algn="l">
              <a:spcBef>
                <a:spcPts val="300"/>
              </a:spcBef>
            </a:pPr>
            <a:r>
              <a:rPr sz="950">
                <a:solidFill>
                  <a:srgbClr val="444444"/>
                </a:solidFill>
              </a:rPr>
              <a:t>Best for:</a:t>
            </a:r>
          </a:p>
          <a:p>
            <a:pPr algn="l">
              <a:spcBef>
                <a:spcPts val="300"/>
              </a:spcBef>
            </a:pPr>
            <a:r>
              <a:rPr sz="950">
                <a:solidFill>
                  <a:srgbClr val="444444"/>
                </a:solidFill>
              </a:rPr>
              <a:t>  Structured / tabular data competition</a:t>
            </a:r>
          </a:p>
          <a:p>
            <a:pPr algn="l">
              <a:spcBef>
                <a:spcPts val="300"/>
              </a:spcBef>
            </a:pPr>
            <a:r>
              <a:rPr sz="950">
                <a:solidFill>
                  <a:srgbClr val="444444"/>
                </a:solidFill>
              </a:rPr>
              <a:t>  When best AUC is the goal</a:t>
            </a:r>
          </a:p>
          <a:p>
            <a:pPr algn="l">
              <a:spcBef>
                <a:spcPts val="300"/>
              </a:spcBef>
            </a:pPr>
            <a:r>
              <a:rPr sz="950">
                <a:solidFill>
                  <a:srgbClr val="444444"/>
                </a:solidFill>
              </a:rPr>
              <a:t>  Explainability via SHAP</a:t>
            </a:r>
          </a:p>
        </p:txBody>
      </p:sp>
      <p:sp>
        <p:nvSpPr>
          <p:cNvPr id="15" name="Rectangle 14"/>
          <p:cNvSpPr/>
          <p:nvPr/>
        </p:nvSpPr>
        <p:spPr>
          <a:xfrm>
            <a:off x="256032" y="6464808"/>
            <a:ext cx="11676888" cy="338328"/>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6510528"/>
            <a:ext cx="11430000" cy="256032"/>
          </a:xfrm>
          <a:prstGeom prst="rect">
            <a:avLst/>
          </a:prstGeom>
          <a:noFill/>
        </p:spPr>
        <p:txBody>
          <a:bodyPr wrap="square">
            <a:spAutoFit/>
          </a:bodyPr>
          <a:lstStyle/>
          <a:p>
            <a:pPr algn="l"/>
            <a:r>
              <a:rPr sz="1000" b="1" i="0">
                <a:solidFill>
                  <a:srgbClr val="FFFFFF"/>
                </a:solidFill>
              </a:rPr>
              <a:t>All three use class imbalance correction  ·  All evaluated on the same 20% held-out test set  ·  XGBoost + SHAP is the recommended production starting point for readmission prediction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Limitations &amp; Next Steps</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Extending the Tutorial</a:t>
            </a:r>
          </a:p>
        </p:txBody>
      </p:sp>
      <p:sp>
        <p:nvSpPr>
          <p:cNvPr id="6" name="TextBox 5"/>
          <p:cNvSpPr txBox="1"/>
          <p:nvPr/>
        </p:nvSpPr>
        <p:spPr>
          <a:xfrm>
            <a:off x="320040" y="914400"/>
            <a:ext cx="5715000" cy="5486400"/>
          </a:xfrm>
          <a:prstGeom prst="rect">
            <a:avLst/>
          </a:prstGeom>
          <a:noFill/>
        </p:spPr>
        <p:txBody>
          <a:bodyPr wrap="square">
            <a:spAutoFit/>
          </a:bodyPr>
          <a:lstStyle/>
          <a:p>
            <a:pPr algn="l"/>
            <a:r>
              <a:rPr sz="1200" b="1">
                <a:solidFill>
                  <a:srgbClr val="1A538B"/>
                </a:solidFill>
              </a:rPr>
              <a:t>Current Limitations</a:t>
            </a:r>
          </a:p>
          <a:p>
            <a:pPr algn="l">
              <a:spcBef>
                <a:spcPts val="300"/>
              </a:spcBef>
            </a:pPr>
            <a:r>
              <a:rPr sz="1050">
                <a:solidFill>
                  <a:srgbClr val="444444"/>
                </a:solidFill>
              </a:rPr>
              <a:t>1. Small feature set (demographics only)</a:t>
            </a:r>
          </a:p>
          <a:p>
            <a:pPr algn="l">
              <a:spcBef>
                <a:spcPts val="300"/>
              </a:spcBef>
            </a:pPr>
            <a:r>
              <a:rPr sz="1050">
                <a:solidFill>
                  <a:srgbClr val="444444"/>
                </a:solidFill>
              </a:rPr>
              <a:t>   AUC ceiling ~0.68  |  Literature achieves 0.75–0.80</a:t>
            </a:r>
          </a:p>
          <a:p>
            <a:pPr algn="l">
              <a:spcBef>
                <a:spcPts val="300"/>
              </a:spcBef>
            </a:pPr>
            <a:r>
              <a:rPr sz="1050">
                <a:solidFill>
                  <a:srgbClr val="444444"/>
                </a:solidFill>
              </a:rPr>
              <a:t>   with comorbidities + labs + length of stay</a:t>
            </a:r>
          </a:p>
          <a:p>
            <a:pPr algn="l">
              <a:spcBef>
                <a:spcPts val="300"/>
              </a:spcBef>
            </a:pPr>
            <a:r>
              <a:rPr sz="1050">
                <a:solidFill>
                  <a:srgbClr val="444444"/>
                </a:solidFill>
              </a:rPr>
              <a:t/>
            </a:r>
          </a:p>
          <a:p>
            <a:pPr algn="l">
              <a:spcBef>
                <a:spcPts val="300"/>
              </a:spcBef>
            </a:pPr>
            <a:r>
              <a:rPr sz="1050">
                <a:solidFill>
                  <a:srgbClr val="444444"/>
                </a:solidFill>
              </a:rPr>
              <a:t>2. All-cause readmission definition</a:t>
            </a:r>
          </a:p>
          <a:p>
            <a:pPr algn="l">
              <a:spcBef>
                <a:spcPts val="300"/>
              </a:spcBef>
            </a:pPr>
            <a:r>
              <a:rPr sz="1050">
                <a:solidFill>
                  <a:srgbClr val="444444"/>
                </a:solidFill>
              </a:rPr>
              <a:t>   Includes planned readmissions (elective surgery follow-up)</a:t>
            </a:r>
          </a:p>
          <a:p>
            <a:pPr algn="l">
              <a:spcBef>
                <a:spcPts val="300"/>
              </a:spcBef>
            </a:pPr>
            <a:r>
              <a:rPr sz="1050">
                <a:solidFill>
                  <a:srgbClr val="444444"/>
                </a:solidFill>
              </a:rPr>
              <a:t>   Production systems should filter to unplanned only</a:t>
            </a:r>
          </a:p>
          <a:p>
            <a:pPr algn="l">
              <a:spcBef>
                <a:spcPts val="300"/>
              </a:spcBef>
            </a:pPr>
            <a:r>
              <a:rPr sz="1050">
                <a:solidFill>
                  <a:srgbClr val="444444"/>
                </a:solidFill>
              </a:rPr>
              <a:t>   (AHRQ Prevention Quality Indicators criteria)</a:t>
            </a:r>
          </a:p>
          <a:p>
            <a:pPr algn="l">
              <a:spcBef>
                <a:spcPts val="300"/>
              </a:spcBef>
            </a:pPr>
            <a:r>
              <a:rPr sz="1050">
                <a:solidFill>
                  <a:srgbClr val="444444"/>
                </a:solidFill>
              </a:rPr>
              <a:t/>
            </a:r>
          </a:p>
          <a:p>
            <a:pPr algn="l">
              <a:spcBef>
                <a:spcPts val="300"/>
              </a:spcBef>
            </a:pPr>
            <a:r>
              <a:rPr sz="1050">
                <a:solidFill>
                  <a:srgbClr val="444444"/>
                </a:solidFill>
              </a:rPr>
              <a:t>3. MIMIC-III is 10+ years old</a:t>
            </a:r>
          </a:p>
          <a:p>
            <a:pPr algn="l">
              <a:spcBef>
                <a:spcPts val="300"/>
              </a:spcBef>
            </a:pPr>
            <a:r>
              <a:rPr sz="1050">
                <a:solidFill>
                  <a:srgbClr val="444444"/>
                </a:solidFill>
              </a:rPr>
              <a:t>   Clinical practice, billing codes, and demographics</a:t>
            </a:r>
          </a:p>
          <a:p>
            <a:pPr algn="l">
              <a:spcBef>
                <a:spcPts val="300"/>
              </a:spcBef>
            </a:pPr>
            <a:r>
              <a:rPr sz="1050">
                <a:solidFill>
                  <a:srgbClr val="444444"/>
                </a:solidFill>
              </a:rPr>
              <a:t>   may differ from current patient populations</a:t>
            </a:r>
          </a:p>
          <a:p>
            <a:pPr algn="l">
              <a:spcBef>
                <a:spcPts val="300"/>
              </a:spcBef>
            </a:pPr>
            <a:r>
              <a:rPr sz="1050">
                <a:solidFill>
                  <a:srgbClr val="444444"/>
                </a:solidFill>
              </a:rPr>
              <a:t>   Use MIMIC-IV (2008–2019) for more recent data</a:t>
            </a:r>
          </a:p>
          <a:p>
            <a:pPr algn="l">
              <a:spcBef>
                <a:spcPts val="300"/>
              </a:spcBef>
            </a:pPr>
            <a:r>
              <a:rPr sz="1050">
                <a:solidFill>
                  <a:srgbClr val="444444"/>
                </a:solidFill>
              </a:rPr>
              <a:t/>
            </a:r>
          </a:p>
          <a:p>
            <a:pPr algn="l">
              <a:spcBef>
                <a:spcPts val="300"/>
              </a:spcBef>
            </a:pPr>
            <a:r>
              <a:rPr sz="1050">
                <a:solidFill>
                  <a:srgbClr val="444444"/>
                </a:solidFill>
              </a:rPr>
              <a:t>4. No temporal validation</a:t>
            </a:r>
          </a:p>
          <a:p>
            <a:pPr algn="l">
              <a:spcBef>
                <a:spcPts val="300"/>
              </a:spcBef>
            </a:pPr>
            <a:r>
              <a:rPr sz="1050">
                <a:solidFill>
                  <a:srgbClr val="444444"/>
                </a:solidFill>
              </a:rPr>
              <a:t>   We used random 80/20 split — real deployment requires</a:t>
            </a:r>
          </a:p>
          <a:p>
            <a:pPr algn="l">
              <a:spcBef>
                <a:spcPts val="300"/>
              </a:spcBef>
            </a:pPr>
            <a:r>
              <a:rPr sz="1050">
                <a:solidFill>
                  <a:srgbClr val="444444"/>
                </a:solidFill>
              </a:rPr>
              <a:t>   temporal split (train on 2001–2010, test on 2011–2012)</a:t>
            </a:r>
          </a:p>
          <a:p>
            <a:pPr algn="l">
              <a:spcBef>
                <a:spcPts val="300"/>
              </a:spcBef>
            </a:pPr>
            <a:r>
              <a:rPr sz="1050">
                <a:solidFill>
                  <a:srgbClr val="444444"/>
                </a:solidFill>
              </a:rPr>
              <a:t/>
            </a:r>
          </a:p>
          <a:p>
            <a:pPr algn="l">
              <a:spcBef>
                <a:spcPts val="300"/>
              </a:spcBef>
            </a:pPr>
            <a:r>
              <a:rPr sz="1050">
                <a:solidFill>
                  <a:srgbClr val="444444"/>
                </a:solidFill>
              </a:rPr>
              <a:t>5. Default threshold (0.5)</a:t>
            </a:r>
          </a:p>
          <a:p>
            <a:pPr algn="l">
              <a:spcBef>
                <a:spcPts val="300"/>
              </a:spcBef>
            </a:pPr>
            <a:r>
              <a:rPr sz="1050">
                <a:solidFill>
                  <a:srgbClr val="444444"/>
                </a:solidFill>
              </a:rPr>
              <a:t>   Clinical use requires threshold tuning for target recall</a:t>
            </a:r>
          </a:p>
        </p:txBody>
      </p:sp>
      <p:sp>
        <p:nvSpPr>
          <p:cNvPr id="7" name="TextBox 6"/>
          <p:cNvSpPr txBox="1"/>
          <p:nvPr/>
        </p:nvSpPr>
        <p:spPr>
          <a:xfrm>
            <a:off x="6263640" y="914400"/>
            <a:ext cx="5715000" cy="5486400"/>
          </a:xfrm>
          <a:prstGeom prst="rect">
            <a:avLst/>
          </a:prstGeom>
          <a:noFill/>
        </p:spPr>
        <p:txBody>
          <a:bodyPr wrap="square">
            <a:spAutoFit/>
          </a:bodyPr>
          <a:lstStyle/>
          <a:p>
            <a:pPr algn="l"/>
            <a:r>
              <a:rPr sz="1200" b="1">
                <a:solidFill>
                  <a:srgbClr val="1A538B"/>
                </a:solidFill>
              </a:rPr>
              <a:t>Next Steps to Improve AUC</a:t>
            </a:r>
          </a:p>
          <a:p>
            <a:pPr algn="l">
              <a:spcBef>
                <a:spcPts val="300"/>
              </a:spcBef>
            </a:pPr>
            <a:r>
              <a:rPr sz="1050">
                <a:solidFill>
                  <a:srgbClr val="444444"/>
                </a:solidFill>
              </a:rPr>
              <a:t>① Add ICD-9 Comorbidities (Elixhauser Score)</a:t>
            </a:r>
          </a:p>
          <a:p>
            <a:pPr algn="l">
              <a:spcBef>
                <a:spcPts val="300"/>
              </a:spcBef>
            </a:pPr>
            <a:r>
              <a:rPr sz="1050">
                <a:solidFill>
                  <a:srgbClr val="444444"/>
                </a:solidFill>
              </a:rPr>
              <a:t>   JOIN diagnoses_icd  →  map ICD-9 to 31 conditions</a:t>
            </a:r>
          </a:p>
          <a:p>
            <a:pPr algn="l">
              <a:spcBef>
                <a:spcPts val="300"/>
              </a:spcBef>
            </a:pPr>
            <a:r>
              <a:rPr sz="1050">
                <a:solidFill>
                  <a:srgbClr val="444444"/>
                </a:solidFill>
              </a:rPr>
              <a:t>   Expected AUC gain: +0.04–0.06</a:t>
            </a:r>
          </a:p>
          <a:p>
            <a:pPr algn="l">
              <a:spcBef>
                <a:spcPts val="300"/>
              </a:spcBef>
            </a:pPr>
            <a:r>
              <a:rPr sz="1050">
                <a:solidFill>
                  <a:srgbClr val="444444"/>
                </a:solidFill>
              </a:rPr>
              <a:t/>
            </a:r>
          </a:p>
          <a:p>
            <a:pPr algn="l">
              <a:spcBef>
                <a:spcPts val="300"/>
              </a:spcBef>
            </a:pPr>
            <a:r>
              <a:rPr sz="1050">
                <a:solidFill>
                  <a:srgbClr val="444444"/>
                </a:solidFill>
              </a:rPr>
              <a:t>② Add Length of Stay</a:t>
            </a:r>
          </a:p>
          <a:p>
            <a:pPr algn="l">
              <a:spcBef>
                <a:spcPts val="300"/>
              </a:spcBef>
            </a:pPr>
            <a:r>
              <a:rPr sz="1050">
                <a:solidFill>
                  <a:srgbClr val="444444"/>
                </a:solidFill>
              </a:rPr>
              <a:t>   DATE_DIFF(dischtime, admittime, DAY)</a:t>
            </a:r>
          </a:p>
          <a:p>
            <a:pPr algn="l">
              <a:spcBef>
                <a:spcPts val="300"/>
              </a:spcBef>
            </a:pPr>
            <a:r>
              <a:rPr sz="1050">
                <a:solidFill>
                  <a:srgbClr val="444444"/>
                </a:solidFill>
              </a:rPr>
              <a:t>   Longer stays → sicker patients → higher risk</a:t>
            </a:r>
          </a:p>
          <a:p>
            <a:pPr algn="l">
              <a:spcBef>
                <a:spcPts val="300"/>
              </a:spcBef>
            </a:pPr>
            <a:r>
              <a:rPr sz="1050">
                <a:solidFill>
                  <a:srgbClr val="444444"/>
                </a:solidFill>
              </a:rPr>
              <a:t/>
            </a:r>
          </a:p>
          <a:p>
            <a:pPr algn="l">
              <a:spcBef>
                <a:spcPts val="300"/>
              </a:spcBef>
            </a:pPr>
            <a:r>
              <a:rPr sz="1050">
                <a:solidFill>
                  <a:srgbClr val="444444"/>
                </a:solidFill>
              </a:rPr>
              <a:t>③ Add Lab Values at Discharge</a:t>
            </a:r>
          </a:p>
          <a:p>
            <a:pPr algn="l">
              <a:spcBef>
                <a:spcPts val="300"/>
              </a:spcBef>
            </a:pPr>
            <a:r>
              <a:rPr sz="1050">
                <a:solidFill>
                  <a:srgbClr val="444444"/>
                </a:solidFill>
              </a:rPr>
              <a:t>   JOIN labevents  →  creatinine, BUN, hemoglobin</a:t>
            </a:r>
          </a:p>
          <a:p>
            <a:pPr algn="l">
              <a:spcBef>
                <a:spcPts val="300"/>
              </a:spcBef>
            </a:pPr>
            <a:r>
              <a:rPr sz="1050">
                <a:solidFill>
                  <a:srgbClr val="444444"/>
                </a:solidFill>
              </a:rPr>
              <a:t>   Expected AUC gain: +0.03–0.05</a:t>
            </a:r>
          </a:p>
          <a:p>
            <a:pPr algn="l">
              <a:spcBef>
                <a:spcPts val="300"/>
              </a:spcBef>
            </a:pPr>
            <a:r>
              <a:rPr sz="1050">
                <a:solidFill>
                  <a:srgbClr val="444444"/>
                </a:solidFill>
              </a:rPr>
              <a:t/>
            </a:r>
          </a:p>
          <a:p>
            <a:pPr algn="l">
              <a:spcBef>
                <a:spcPts val="300"/>
              </a:spcBef>
            </a:pPr>
            <a:r>
              <a:rPr sz="1050">
                <a:solidFill>
                  <a:srgbClr val="444444"/>
                </a:solidFill>
              </a:rPr>
              <a:t>④ Try SMOTE Oversampling</a:t>
            </a:r>
          </a:p>
          <a:p>
            <a:pPr algn="l">
              <a:spcBef>
                <a:spcPts val="300"/>
              </a:spcBef>
            </a:pPr>
            <a:r>
              <a:rPr sz="1050">
                <a:solidFill>
                  <a:srgbClr val="444444"/>
                </a:solidFill>
              </a:rPr>
              <a:t>   from imblearn.over_sampling import SMOTE</a:t>
            </a:r>
          </a:p>
          <a:p>
            <a:pPr algn="l">
              <a:spcBef>
                <a:spcPts val="300"/>
              </a:spcBef>
            </a:pPr>
            <a:r>
              <a:rPr sz="1050">
                <a:solidFill>
                  <a:srgbClr val="444444"/>
                </a:solidFill>
              </a:rPr>
              <a:t>   Synthetically oversample minority class</a:t>
            </a:r>
          </a:p>
          <a:p>
            <a:pPr algn="l">
              <a:spcBef>
                <a:spcPts val="300"/>
              </a:spcBef>
            </a:pPr>
            <a:r>
              <a:rPr sz="1050">
                <a:solidFill>
                  <a:srgbClr val="444444"/>
                </a:solidFill>
              </a:rPr>
              <a:t/>
            </a:r>
          </a:p>
          <a:p>
            <a:pPr algn="l">
              <a:spcBef>
                <a:spcPts val="300"/>
              </a:spcBef>
            </a:pPr>
            <a:r>
              <a:rPr sz="1050">
                <a:solidFill>
                  <a:srgbClr val="444444"/>
                </a:solidFill>
              </a:rPr>
              <a:t>⑤ Use MIMIC-IV</a:t>
            </a:r>
          </a:p>
          <a:p>
            <a:pPr algn="l">
              <a:spcBef>
                <a:spcPts val="300"/>
              </a:spcBef>
            </a:pPr>
            <a:r>
              <a:rPr sz="1050">
                <a:solidFill>
                  <a:srgbClr val="444444"/>
                </a:solidFill>
              </a:rPr>
              <a:t>   physionet-data.mimiciv_hosp.admissions</a:t>
            </a:r>
          </a:p>
          <a:p>
            <a:pPr algn="l">
              <a:spcBef>
                <a:spcPts val="300"/>
              </a:spcBef>
            </a:pPr>
            <a:r>
              <a:rPr sz="1050">
                <a:solidFill>
                  <a:srgbClr val="444444"/>
                </a:solidFill>
              </a:rPr>
              <a:t>   More recent, larger, ICD-10 coded</a:t>
            </a:r>
          </a:p>
          <a:p>
            <a:pPr algn="l">
              <a:spcBef>
                <a:spcPts val="300"/>
              </a:spcBef>
            </a:pPr>
            <a:r>
              <a:rPr sz="1050">
                <a:solidFill>
                  <a:srgbClr val="444444"/>
                </a:solidFill>
              </a:rPr>
              <a:t/>
            </a:r>
          </a:p>
          <a:p>
            <a:pPr algn="l">
              <a:spcBef>
                <a:spcPts val="300"/>
              </a:spcBef>
            </a:pPr>
            <a:r>
              <a:rPr sz="1050">
                <a:solidFill>
                  <a:srgbClr val="444444"/>
                </a:solidFill>
              </a:rPr>
              <a:t>⑥ Neural Network Baseline</a:t>
            </a:r>
          </a:p>
          <a:p>
            <a:pPr algn="l">
              <a:spcBef>
                <a:spcPts val="300"/>
              </a:spcBef>
            </a:pPr>
            <a:r>
              <a:rPr sz="1050">
                <a:solidFill>
                  <a:srgbClr val="444444"/>
                </a:solidFill>
              </a:rPr>
              <a:t>   Simple feedforward network (PyTorch / Keras)</a:t>
            </a:r>
          </a:p>
          <a:p>
            <a:pPr algn="l">
              <a:spcBef>
                <a:spcPts val="300"/>
              </a:spcBef>
            </a:pPr>
            <a:r>
              <a:rPr sz="1050">
                <a:solidFill>
                  <a:srgbClr val="444444"/>
                </a:solidFill>
              </a:rPr>
              <a:t>   Compare against tree-based models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88952" cy="777240"/>
          </a:xfrm>
          <a:prstGeom prst="rect">
            <a:avLst/>
          </a:prstGeom>
          <a:solidFill>
            <a:srgbClr val="1A53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9326880" cy="594360"/>
          </a:xfrm>
          <a:prstGeom prst="rect">
            <a:avLst/>
          </a:prstGeom>
          <a:noFill/>
        </p:spPr>
        <p:txBody>
          <a:bodyPr wrap="square">
            <a:spAutoFit/>
          </a:bodyPr>
          <a:lstStyle/>
          <a:p>
            <a:pPr algn="l"/>
            <a:r>
              <a:rPr sz="1700" b="1" i="0">
                <a:solidFill>
                  <a:srgbClr val="FFFFFF"/>
                </a:solidFill>
              </a:rPr>
              <a:t>How to Reproduce This Tutorial</a:t>
            </a:r>
          </a:p>
        </p:txBody>
      </p:sp>
      <p:sp>
        <p:nvSpPr>
          <p:cNvPr id="4" name="Rectangle 3"/>
          <p:cNvSpPr/>
          <p:nvPr/>
        </p:nvSpPr>
        <p:spPr>
          <a:xfrm>
            <a:off x="9372600" y="137160"/>
            <a:ext cx="2606040" cy="5029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72600" y="137160"/>
            <a:ext cx="2606040" cy="502920"/>
          </a:xfrm>
          <a:prstGeom prst="rect">
            <a:avLst/>
          </a:prstGeom>
          <a:noFill/>
        </p:spPr>
        <p:txBody>
          <a:bodyPr wrap="square">
            <a:spAutoFit/>
          </a:bodyPr>
          <a:lstStyle/>
          <a:p>
            <a:pPr algn="ctr"/>
            <a:r>
              <a:rPr sz="1000" b="1" i="0">
                <a:solidFill>
                  <a:srgbClr val="FFFFFF"/>
                </a:solidFill>
              </a:rPr>
              <a:t>Google Colab  ·  GitHub  ·  BigQuery</a:t>
            </a:r>
          </a:p>
        </p:txBody>
      </p:sp>
      <p:sp>
        <p:nvSpPr>
          <p:cNvPr id="6" name="TextBox 5"/>
          <p:cNvSpPr txBox="1"/>
          <p:nvPr/>
        </p:nvSpPr>
        <p:spPr>
          <a:xfrm>
            <a:off x="320040" y="914400"/>
            <a:ext cx="5715000" cy="5212080"/>
          </a:xfrm>
          <a:prstGeom prst="rect">
            <a:avLst/>
          </a:prstGeom>
          <a:noFill/>
        </p:spPr>
        <p:txBody>
          <a:bodyPr wrap="square">
            <a:spAutoFit/>
          </a:bodyPr>
          <a:lstStyle/>
          <a:p>
            <a:pPr algn="l"/>
            <a:r>
              <a:rPr sz="1200" b="1">
                <a:solidFill>
                  <a:srgbClr val="1A538B"/>
                </a:solidFill>
              </a:rPr>
              <a:t>Step-by-Step Instructions</a:t>
            </a:r>
          </a:p>
          <a:p>
            <a:pPr algn="l">
              <a:spcBef>
                <a:spcPts val="300"/>
              </a:spcBef>
            </a:pPr>
            <a:r>
              <a:rPr sz="1050">
                <a:solidFill>
                  <a:srgbClr val="444444"/>
                </a:solidFill>
              </a:rPr>
              <a:t>① Get MIMIC-III Access (one-time setup)</a:t>
            </a:r>
          </a:p>
          <a:p>
            <a:pPr algn="l">
              <a:spcBef>
                <a:spcPts val="300"/>
              </a:spcBef>
            </a:pPr>
            <a:r>
              <a:rPr sz="1050">
                <a:solidFill>
                  <a:srgbClr val="444444"/>
                </a:solidFill>
              </a:rPr>
              <a:t>   • Complete PhysioNet credentialing at physionet.org</a:t>
            </a:r>
          </a:p>
          <a:p>
            <a:pPr algn="l">
              <a:spcBef>
                <a:spcPts val="300"/>
              </a:spcBef>
            </a:pPr>
            <a:r>
              <a:rPr sz="1050">
                <a:solidFill>
                  <a:srgbClr val="444444"/>
                </a:solidFill>
              </a:rPr>
              <a:t>   • Request MIMIC-III access (approved ~24–48 hrs)</a:t>
            </a:r>
          </a:p>
          <a:p>
            <a:pPr algn="l">
              <a:spcBef>
                <a:spcPts val="300"/>
              </a:spcBef>
            </a:pPr>
            <a:r>
              <a:rPr sz="1050">
                <a:solidFill>
                  <a:srgbClr val="444444"/>
                </a:solidFill>
              </a:rPr>
              <a:t>   • Enable BigQuery API on GCP project</a:t>
            </a:r>
          </a:p>
          <a:p>
            <a:pPr algn="l">
              <a:spcBef>
                <a:spcPts val="300"/>
              </a:spcBef>
            </a:pPr>
            <a:r>
              <a:rPr sz="1050">
                <a:solidFill>
                  <a:srgbClr val="444444"/>
                </a:solidFill>
              </a:rPr>
              <a:t/>
            </a:r>
          </a:p>
          <a:p>
            <a:pPr algn="l">
              <a:spcBef>
                <a:spcPts val="300"/>
              </a:spcBef>
            </a:pPr>
            <a:r>
              <a:rPr sz="1050">
                <a:solidFill>
                  <a:srgbClr val="444444"/>
                </a:solidFill>
              </a:rPr>
              <a:t>② Open the Colab Notebook</a:t>
            </a:r>
          </a:p>
          <a:p>
            <a:pPr algn="l">
              <a:spcBef>
                <a:spcPts val="300"/>
              </a:spcBef>
            </a:pPr>
            <a:r>
              <a:rPr sz="1050">
                <a:solidFill>
                  <a:srgbClr val="444444"/>
                </a:solidFill>
              </a:rPr>
              <a:t>   • Visit the GitHub repo (link in title slide notes)</a:t>
            </a:r>
          </a:p>
          <a:p>
            <a:pPr algn="l">
              <a:spcBef>
                <a:spcPts val="300"/>
              </a:spcBef>
            </a:pPr>
            <a:r>
              <a:rPr sz="1050">
                <a:solidFill>
                  <a:srgbClr val="444444"/>
                </a:solidFill>
              </a:rPr>
              <a:t>   • Open mimic_readmission.ipynb in Google Colab</a:t>
            </a:r>
          </a:p>
          <a:p>
            <a:pPr algn="l">
              <a:spcBef>
                <a:spcPts val="300"/>
              </a:spcBef>
            </a:pPr>
            <a:r>
              <a:rPr sz="1050">
                <a:solidFill>
                  <a:srgbClr val="444444"/>
                </a:solidFill>
              </a:rPr>
              <a:t>     File &gt; Open notebook &gt; GitHub</a:t>
            </a:r>
          </a:p>
          <a:p>
            <a:pPr algn="l">
              <a:spcBef>
                <a:spcPts val="300"/>
              </a:spcBef>
            </a:pPr>
            <a:r>
              <a:rPr sz="1050">
                <a:solidFill>
                  <a:srgbClr val="444444"/>
                </a:solidFill>
              </a:rPr>
              <a:t/>
            </a:r>
          </a:p>
          <a:p>
            <a:pPr algn="l">
              <a:spcBef>
                <a:spcPts val="300"/>
              </a:spcBef>
            </a:pPr>
            <a:r>
              <a:rPr sz="1050">
                <a:solidFill>
                  <a:srgbClr val="444444"/>
                </a:solidFill>
              </a:rPr>
              <a:t>③ Install Dependencies (Cell 1)</a:t>
            </a:r>
          </a:p>
          <a:p>
            <a:pPr algn="l">
              <a:spcBef>
                <a:spcPts val="300"/>
              </a:spcBef>
            </a:pPr>
            <a:r>
              <a:rPr sz="1050">
                <a:solidFill>
                  <a:srgbClr val="444444"/>
                </a:solidFill>
              </a:rPr>
              <a:t>   • Run the !pip install cell</a:t>
            </a:r>
          </a:p>
          <a:p>
            <a:pPr algn="l">
              <a:spcBef>
                <a:spcPts val="300"/>
              </a:spcBef>
            </a:pPr>
            <a:r>
              <a:rPr sz="1050">
                <a:solidFill>
                  <a:srgbClr val="444444"/>
                </a:solidFill>
              </a:rPr>
              <a:t>   • Runtime &gt; Restart runtime after install</a:t>
            </a:r>
          </a:p>
          <a:p>
            <a:pPr algn="l">
              <a:spcBef>
                <a:spcPts val="300"/>
              </a:spcBef>
            </a:pPr>
            <a:r>
              <a:rPr sz="1050">
                <a:solidFill>
                  <a:srgbClr val="444444"/>
                </a:solidFill>
              </a:rPr>
              <a:t/>
            </a:r>
          </a:p>
          <a:p>
            <a:pPr algn="l">
              <a:spcBef>
                <a:spcPts val="300"/>
              </a:spcBef>
            </a:pPr>
            <a:r>
              <a:rPr sz="1050">
                <a:solidFill>
                  <a:srgbClr val="444444"/>
                </a:solidFill>
              </a:rPr>
              <a:t>④ Authenticate &amp; Query (Cells 2–3)</a:t>
            </a:r>
          </a:p>
          <a:p>
            <a:pPr algn="l">
              <a:spcBef>
                <a:spcPts val="300"/>
              </a:spcBef>
            </a:pPr>
            <a:r>
              <a:rPr sz="1050">
                <a:solidFill>
                  <a:srgbClr val="444444"/>
                </a:solidFill>
              </a:rPr>
              <a:t>   • Cell 2: Run imports</a:t>
            </a:r>
          </a:p>
          <a:p>
            <a:pPr algn="l">
              <a:spcBef>
                <a:spcPts val="300"/>
              </a:spcBef>
            </a:pPr>
            <a:r>
              <a:rPr sz="1050">
                <a:solidFill>
                  <a:srgbClr val="444444"/>
                </a:solidFill>
              </a:rPr>
              <a:t>   • Cell 3: Colab auth popup → sign in with Google account</a:t>
            </a:r>
          </a:p>
          <a:p>
            <a:pPr algn="l">
              <a:spcBef>
                <a:spcPts val="300"/>
              </a:spcBef>
            </a:pPr>
            <a:r>
              <a:rPr sz="1050">
                <a:solidFill>
                  <a:srgbClr val="444444"/>
                </a:solidFill>
              </a:rPr>
              <a:t>             that has PhysioNet BigQuery access</a:t>
            </a:r>
          </a:p>
          <a:p>
            <a:pPr algn="l">
              <a:spcBef>
                <a:spcPts val="300"/>
              </a:spcBef>
            </a:pPr>
            <a:r>
              <a:rPr sz="1050">
                <a:solidFill>
                  <a:srgbClr val="444444"/>
                </a:solidFill>
              </a:rPr>
              <a:t/>
            </a:r>
          </a:p>
          <a:p>
            <a:pPr algn="l">
              <a:spcBef>
                <a:spcPts val="300"/>
              </a:spcBef>
            </a:pPr>
            <a:r>
              <a:rPr sz="1050">
                <a:solidFill>
                  <a:srgbClr val="444444"/>
                </a:solidFill>
              </a:rPr>
              <a:t>⑤ Run All Remaining Cells in Order</a:t>
            </a:r>
          </a:p>
          <a:p>
            <a:pPr algn="l">
              <a:spcBef>
                <a:spcPts val="300"/>
              </a:spcBef>
            </a:pPr>
            <a:r>
              <a:rPr sz="1050">
                <a:solidFill>
                  <a:srgbClr val="444444"/>
                </a:solidFill>
              </a:rPr>
              <a:t>   Runtime &gt; Run all  (or Shift+Enter each cell)</a:t>
            </a:r>
          </a:p>
          <a:p>
            <a:pPr algn="l">
              <a:spcBef>
                <a:spcPts val="300"/>
              </a:spcBef>
            </a:pPr>
            <a:r>
              <a:rPr sz="1050">
                <a:solidFill>
                  <a:srgbClr val="444444"/>
                </a:solidFill>
              </a:rPr>
              <a:t>   Expected runtime: ~5–8 minutes total</a:t>
            </a:r>
          </a:p>
          <a:p>
            <a:pPr algn="l">
              <a:spcBef>
                <a:spcPts val="300"/>
              </a:spcBef>
            </a:pPr>
            <a:r>
              <a:rPr sz="1050">
                <a:solidFill>
                  <a:srgbClr val="444444"/>
                </a:solidFill>
              </a:rPr>
              <a:t>   BigQuery cost: ~$0.05–0.10 (one-time query)</a:t>
            </a:r>
          </a:p>
        </p:txBody>
      </p:sp>
      <p:sp>
        <p:nvSpPr>
          <p:cNvPr id="7" name="TextBox 6"/>
          <p:cNvSpPr txBox="1"/>
          <p:nvPr/>
        </p:nvSpPr>
        <p:spPr>
          <a:xfrm>
            <a:off x="6263640" y="914400"/>
            <a:ext cx="5715000" cy="3200400"/>
          </a:xfrm>
          <a:prstGeom prst="rect">
            <a:avLst/>
          </a:prstGeom>
          <a:noFill/>
        </p:spPr>
        <p:txBody>
          <a:bodyPr wrap="square">
            <a:spAutoFit/>
          </a:bodyPr>
          <a:lstStyle/>
          <a:p>
            <a:pPr algn="l"/>
            <a:r>
              <a:rPr sz="1200" b="1">
                <a:solidFill>
                  <a:srgbClr val="1A538B"/>
                </a:solidFill>
              </a:rPr>
              <a:t>Skipping BigQuery (Cached Data)</a:t>
            </a:r>
          </a:p>
          <a:p>
            <a:pPr algn="l">
              <a:spcBef>
                <a:spcPts val="300"/>
              </a:spcBef>
            </a:pPr>
            <a:r>
              <a:rPr sz="1050">
                <a:solidFill>
                  <a:srgbClr val="444444"/>
                </a:solidFill>
              </a:rPr>
              <a:t>After the first run, a CSV is saved:</a:t>
            </a:r>
          </a:p>
          <a:p>
            <a:pPr algn="l">
              <a:spcBef>
                <a:spcPts val="300"/>
              </a:spcBef>
            </a:pPr>
            <a:r>
              <a:rPr sz="1050">
                <a:solidFill>
                  <a:srgbClr val="444444"/>
                </a:solidFill>
              </a:rPr>
              <a:t>  readmission_cohort.csv</a:t>
            </a:r>
          </a:p>
          <a:p>
            <a:pPr algn="l">
              <a:spcBef>
                <a:spcPts val="300"/>
              </a:spcBef>
            </a:pPr>
            <a:r>
              <a:rPr sz="1050">
                <a:solidFill>
                  <a:srgbClr val="444444"/>
                </a:solidFill>
              </a:rPr>
              <a:t/>
            </a:r>
          </a:p>
          <a:p>
            <a:pPr algn="l">
              <a:spcBef>
                <a:spcPts val="300"/>
              </a:spcBef>
            </a:pPr>
            <a:r>
              <a:rPr sz="1050">
                <a:solidFill>
                  <a:srgbClr val="444444"/>
                </a:solidFill>
              </a:rPr>
              <a:t>On subsequent runs, skip Cells 3 and 4.</a:t>
            </a:r>
          </a:p>
          <a:p>
            <a:pPr algn="l">
              <a:spcBef>
                <a:spcPts val="300"/>
              </a:spcBef>
            </a:pPr>
            <a:r>
              <a:rPr sz="1050">
                <a:solidFill>
                  <a:srgbClr val="444444"/>
                </a:solidFill>
              </a:rPr>
              <a:t>In Cell 4 (CSV checkpoint), uncomment:</a:t>
            </a:r>
          </a:p>
          <a:p>
            <a:pPr algn="l">
              <a:spcBef>
                <a:spcPts val="300"/>
              </a:spcBef>
            </a:pPr>
            <a:r>
              <a:rPr sz="1050">
                <a:solidFill>
                  <a:srgbClr val="444444"/>
                </a:solidFill>
              </a:rPr>
              <a:t>  df = pd.read_csv("readmission_cohort.csv")</a:t>
            </a:r>
          </a:p>
          <a:p>
            <a:pPr algn="l">
              <a:spcBef>
                <a:spcPts val="300"/>
              </a:spcBef>
            </a:pPr>
            <a:r>
              <a:rPr sz="1050">
                <a:solidFill>
                  <a:srgbClr val="444444"/>
                </a:solidFill>
              </a:rPr>
              <a:t/>
            </a:r>
          </a:p>
          <a:p>
            <a:pPr algn="l">
              <a:spcBef>
                <a:spcPts val="300"/>
              </a:spcBef>
            </a:pPr>
            <a:r>
              <a:rPr sz="1050">
                <a:solidFill>
                  <a:srgbClr val="444444"/>
                </a:solidFill>
              </a:rPr>
              <a:t>This avoids re-running the BigQuery query</a:t>
            </a:r>
          </a:p>
          <a:p>
            <a:pPr algn="l">
              <a:spcBef>
                <a:spcPts val="300"/>
              </a:spcBef>
            </a:pPr>
            <a:r>
              <a:rPr sz="1050">
                <a:solidFill>
                  <a:srgbClr val="444444"/>
                </a:solidFill>
              </a:rPr>
              <a:t>and saves time + billing cost.</a:t>
            </a:r>
          </a:p>
        </p:txBody>
      </p:sp>
      <p:sp>
        <p:nvSpPr>
          <p:cNvPr id="8" name="Rectangle 7"/>
          <p:cNvSpPr/>
          <p:nvPr/>
        </p:nvSpPr>
        <p:spPr>
          <a:xfrm>
            <a:off x="6263640" y="4251960"/>
            <a:ext cx="5715000" cy="2514600"/>
          </a:xfrm>
          <a:prstGeom prst="rect">
            <a:avLst/>
          </a:prstGeom>
          <a:solidFill>
            <a:srgbClr val="E8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4325112"/>
            <a:ext cx="5577840" cy="274320"/>
          </a:xfrm>
          <a:prstGeom prst="rect">
            <a:avLst/>
          </a:prstGeom>
          <a:noFill/>
        </p:spPr>
        <p:txBody>
          <a:bodyPr wrap="square">
            <a:spAutoFit/>
          </a:bodyPr>
          <a:lstStyle/>
          <a:p>
            <a:pPr algn="l"/>
            <a:r>
              <a:rPr sz="1100" b="1" i="0">
                <a:solidFill>
                  <a:srgbClr val="1E8A44"/>
                </a:solidFill>
              </a:rPr>
              <a:t>GitHub Repository</a:t>
            </a:r>
          </a:p>
        </p:txBody>
      </p:sp>
      <p:sp>
        <p:nvSpPr>
          <p:cNvPr id="10" name="TextBox 9"/>
          <p:cNvSpPr txBox="1"/>
          <p:nvPr/>
        </p:nvSpPr>
        <p:spPr>
          <a:xfrm>
            <a:off x="6336792" y="4636008"/>
            <a:ext cx="5577840" cy="2057400"/>
          </a:xfrm>
          <a:prstGeom prst="rect">
            <a:avLst/>
          </a:prstGeom>
          <a:noFill/>
        </p:spPr>
        <p:txBody>
          <a:bodyPr wrap="square">
            <a:spAutoFit/>
          </a:bodyPr>
          <a:lstStyle/>
          <a:p>
            <a:pPr algn="l"/>
            <a:r>
              <a:rPr sz="950" b="0" i="0">
                <a:solidFill>
                  <a:srgbClr val="225522"/>
                </a:solidFill>
              </a:rPr>
              <a:t>Code and notebook:
github.com/manoharbyc-dev/ai-healthcare
Files in this tutorial:
  create_tutorial_notebook.py  — generates the .ipynb
  mimic_readmission.ipynb      — Colab-ready notebook
  create_tutorial_slides.py    — generates the .pptx
  mimic_readmission.pptx       — this presentation
If you get stuck: check PhysioNet BigQuery docs
at physionet.org/content/mimiciii/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